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2733"/>
                </a:solidFill>
                <a:latin typeface="Calibri"/>
              </a:defRPr>
            </a:pPr>
            <a:r>
              <a:rPr sz="1300" b="0" i="0" u="none" strike="noStrike">
                <a:solidFill>
                  <a:srgbClr val="1A2733"/>
                </a:solidFill>
                <a:latin typeface="Calibri"/>
              </a:rPr>
              <a:t>Person-hours to a tested, published tool</a:t>
            </a:r>
          </a:p>
        </c:rich>
      </c:tx>
      <c:layout/>
      <c:overlay val="0"/>
    </c:title>
    <c:autoTitleDeleted val="0"/>
    <c:plotArea>
      <c:layout/>
      <c:barChart>
        <c:barDir val="col"/>
        <c:grouping val="clustered"/>
        <c:varyColors val="0"/>
        <c:ser>
          <c:idx val="0"/>
          <c:order val="0"/>
          <c:tx>
            <c:strRef>
              <c:f>Sheet1!$B$1</c:f>
              <c:strCache>
                <c:ptCount val="1"/>
                <c:pt idx="0">
                  <c:v>Unaided professional (PERT estimate)</c:v>
                </c:pt>
              </c:strCache>
            </c:strRef>
          </c:tx>
          <c:spPr>
            <a:solidFill>
              <a:srgbClr val="065A82"/>
            </a:solidFill>
            <a:effectLst/>
          </c:spPr>
          <c:invertIfNegative val="0"/>
          <c:dLbls>
            <c:numFmt formatCode="0.0" sourceLinked="0"/>
            <c:txPr>
              <a:bodyPr/>
              <a:lstStyle/>
              <a:p>
                <a:pPr>
                  <a:defRPr b="0" i="0" strike="noStrike" sz="1100" u="none">
                    <a:solidFill>
                      <a:srgbClr val="1A27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Starlink monitor</c:v>
                  </c:pt>
                  <c:pt idx="1">
                    <c:v>Q-Hub relay</c:v>
                  </c:pt>
                  <c:pt idx="2">
                    <c:v>ASV console</c:v>
                  </c:pt>
                </c:lvl>
              </c:multiLvlStrCache>
            </c:multiLvlStrRef>
          </c:cat>
          <c:val>
            <c:numRef>
              <c:f>Sheet1!$B$2:$B$4</c:f>
              <c:numCache>
                <c:formatCode>General</c:formatCode>
                <c:ptCount val="3"/>
                <c:pt idx="0">
                  <c:v>40.3</c:v>
                </c:pt>
                <c:pt idx="1">
                  <c:v>32</c:v>
                </c:pt>
                <c:pt idx="2">
                  <c:v>199.8</c:v>
                </c:pt>
              </c:numCache>
            </c:numRef>
          </c:val>
        </c:ser>
        <c:ser>
          <c:idx val="1"/>
          <c:order val="1"/>
          <c:tx>
            <c:strRef>
              <c:f>Sheet1!$C$1</c:f>
              <c:strCache>
                <c:ptCount val="1"/>
                <c:pt idx="0">
                  <c:v>AI-coupled, actual (bounded)</c:v>
                </c:pt>
              </c:strCache>
            </c:strRef>
          </c:tx>
          <c:spPr>
            <a:solidFill>
              <a:srgbClr val="C9862B"/>
            </a:solidFill>
            <a:effectLst/>
          </c:spPr>
          <c:invertIfNegative val="0"/>
          <c:dLbls>
            <c:numFmt formatCode="0.0" sourceLinked="0"/>
            <c:txPr>
              <a:bodyPr/>
              <a:lstStyle/>
              <a:p>
                <a:pPr>
                  <a:defRPr b="0" i="0" strike="noStrike" sz="1100" u="none">
                    <a:solidFill>
                      <a:srgbClr val="1A27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Starlink monitor</c:v>
                  </c:pt>
                  <c:pt idx="1">
                    <c:v>Q-Hub relay</c:v>
                  </c:pt>
                  <c:pt idx="2">
                    <c:v>ASV console</c:v>
                  </c:pt>
                </c:lvl>
              </c:multiLvlStrCache>
            </c:multiLvlStrRef>
          </c:cat>
          <c:val>
            <c:numRef>
              <c:f>Sheet1!$C$2:$C$4</c:f>
              <c:numCache>
                <c:formatCode>General</c:formatCode>
                <c:ptCount val="3"/>
                <c:pt idx="0">
                  <c:v>4</c:v>
                </c:pt>
                <c:pt idx="1">
                  <c:v>2</c:v>
                </c:pt>
                <c:pt idx="2">
                  <c:v>30</c:v>
                </c:pt>
              </c:numCache>
            </c:numRef>
          </c:val>
        </c:ser>
        <c:dLbls>
          <c:numFmt formatCode="0.0" sourceLinked="0"/>
          <c:txPr>
            <a:bodyPr/>
            <a:lstStyle/>
            <a:p>
              <a:pPr>
                <a:defRPr b="0" i="0" strike="noStrike" sz="1100" u="none">
                  <a:solidFill>
                    <a:srgbClr val="1A27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73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AF1"/>
              </a:solidFill>
              <a:prstDash val="solid"/>
              <a:round/>
            </a:ln>
          </c:spPr>
        </c:majorGridlines>
        <c:title>
          <c:tx>
            <c:rich>
              <a:bodyPr/>
              <a:lstStyle/>
              <a:p>
                <a:pPr>
                  <a:defRPr sz="1000" b="0" i="0" u="none" strike="noStrike">
                    <a:solidFill>
                      <a:srgbClr val="5A6B7A"/>
                    </a:solidFill>
                    <a:latin typeface="Arial"/>
                  </a:defRPr>
                </a:pPr>
                <a:r>
                  <a:rPr sz="1000" b="0" i="0" u="none" strike="noStrike">
                    <a:solidFill>
                      <a:srgbClr val="5A6B7A"/>
                    </a:solidFill>
                    <a:latin typeface="Arial"/>
                  </a:rPr>
                  <a:t>person-hours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6B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for a graduate audience: this is a case study in human-AI software engineering. The artifact is real and operational; the method — a domain expert specifying in plain language, an agent implementing and discovering — is the research object. The DES schema was proposed and tested across four earlier tools; here it is read against the largest artifact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matters for the argument: the earlier case studies were single-instrument tools (a relay panel, a dish dashboard, a sonar display). This is an order of magnitude larger — a planner, a physics simulator, a safety model, an AIS subsystem, and a documentation pipeline — which stresses the conversation method differently. The RC transmitter remains the true failsafe; the console is additive shore-side C2.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choice worth defending to engineers: no build step, no pip, one server file. That is a deployment constraint from the field context (a vessel console you can stand up anywhere), and it came from the specification, not the agent's preference. The VCU seam is the safety argument in miniature — the real path exists, connects, and declines to transmit, because an uncertain frame to a real boat is worse than no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methodological move in the papers: treat the conversation transcript as data. Each user turn is labeled by function — specification, defect report, authorization, and so on — which lets you ask which turns were latent in the original intent (avoidable with a better opening prompt) and which were irreducible discovery. That distinction is what the DES schema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schema's central refusal: it never asks the domain expert for implementation detail — no field numbers, no projection math, no threading model. Those are exactly the parts that must be discovered or engineered, and they fall on the agent's side of the line. The schema is a hypothesis about turn economics, not code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epistemic progression: paper 1 proposes; paper 2 tests after the fact on a very different device; paper 3 runs the experiment forward — the author uses his own schema on a new device and the correction turns disappear; the sonar case adds that authoritative external artifacts count as ground truth. Each study is n=1, observed not controlled — four points pointing the same way, not a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was never written up as a paper turn-by-turn; the reading here is the Q-Hub direction — the schema used going in, as working practice. Slot 4 is the interesting one at this scale: the safety envelope covers not just the device but the codebase itself (the sanitization rule is a standing constraint with its own grep), and authorization is renegotiated per action, e.g. docs rebuilt in the same commit as 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ASV project's versions of the lying-telemetry discoveries in the earlier papers. Each began as an operator report or an audit request in plain language, and each resolved into a runtime fact nobody held in advance. The division of labor holds at scale: the expert supplies the suspicion ('seems strange'), the agent supplies the measurement and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graduate audience should push: the schema's verification slot, at this scale, becomes an engineering discipline of its own. Mutation testing is applied to the tests, not the code — a test is an instrument, and instruments get calibrated. The campaign numbers: the audit found 20 of 33 HTTP routes untested; eight suites later the thread closed with five live defects found, all of the same family (an unguarded branch before the dispatch safety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Threats to these numbers are on the next slide — flag them here so the chart isn't read as a measurement. The estimates are modeled, the actuals are uninstrumented bounds, and the same estimator produced all of them. The claim defended is only the order of magnitude, and the qualitative regime change for a non-programmer.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top-down: UI and test infrastructure dominate — different from the small tools, where protocol discovery was the largest line. That shift is the scaling story: as the artifact grows, the effort moves from discovery to construction and verification, and the compression ratio falls from ~10-16x to ~7x. The papers predicted exactly this ('ratios from single-purpose instrumentation should not be stretched to large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software-engineering audience: these are the generalizable outputs. Each shape was hit repeatedly, named, written into the project's generated development guide, and then used as a checklist ('check for that shape first'). The conversation method makes this feedback loop unusually tight — the same agent that fixed the bug writes the taxonomy and carries it into the next session's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author of the papers makes these caveats himself, prominently. The honest framing: four data points pointing the same direction are a reason to run the controlled study, not a substitute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the question to the audience: the schema is deliberately falsifiable — it predicts which turns disappear under a structured opening and which cannot. That is a measurable claim, and the paired study on the previous slide is the way to test it beyond n =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239"/>
        </a:solidFill>
      </p:bgPr>
    </p:bg>
    <p:spTree>
      <p:nvGrpSpPr>
        <p:cNvPr id="1" name=""/>
        <p:cNvGrpSpPr/>
        <p:nvPr/>
      </p:nvGrpSpPr>
      <p:grpSpPr>
        <a:xfrm>
          <a:off x="0" y="0"/>
          <a:ext cx="0" cy="0"/>
          <a:chOff x="0" y="0"/>
          <a:chExt cx="0" cy="0"/>
        </a:xfrm>
      </p:grpSpPr>
      <p:sp>
        <p:nvSpPr>
          <p:cNvPr id="2" name="Shape 0"/>
          <p:cNvSpPr/>
          <p:nvPr/>
        </p:nvSpPr>
        <p:spPr>
          <a:xfrm>
            <a:off x="9464040" y="777240"/>
            <a:ext cx="1371600" cy="1371600"/>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9820656" y="1133856"/>
            <a:ext cx="658368" cy="658368"/>
          </a:xfrm>
          <a:prstGeom prst="rect">
            <a:avLst/>
          </a:prstGeom>
        </p:spPr>
      </p:pic>
      <p:sp>
        <p:nvSpPr>
          <p:cNvPr id="4" name="Text 1"/>
          <p:cNvSpPr/>
          <p:nvPr/>
        </p:nvSpPr>
        <p:spPr>
          <a:xfrm>
            <a:off x="822960" y="187452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Programming by Conversation</a:t>
            </a:r>
            <a:endParaRPr lang="en-US" sz="4400" dirty="0"/>
          </a:p>
        </p:txBody>
      </p:sp>
      <p:sp>
        <p:nvSpPr>
          <p:cNvPr id="5" name="Text 2"/>
          <p:cNvSpPr/>
          <p:nvPr/>
        </p:nvSpPr>
        <p:spPr>
          <a:xfrm>
            <a:off x="822960" y="2834640"/>
            <a:ext cx="9875520" cy="82296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The ASV Simulator Console: an autonomous-surface-vehicle shore station built entirely by directing a coding agent</a:t>
            </a:r>
            <a:endParaRPr lang="en-US" sz="2000" dirty="0"/>
          </a:p>
        </p:txBody>
      </p:sp>
      <p:sp>
        <p:nvSpPr>
          <p:cNvPr id="6" name="Text 3"/>
          <p:cNvSpPr/>
          <p:nvPr/>
        </p:nvSpPr>
        <p:spPr>
          <a:xfrm>
            <a:off x="822960" y="3703320"/>
            <a:ext cx="9875520" cy="457200"/>
          </a:xfrm>
          <a:prstGeom prst="rect">
            <a:avLst/>
          </a:prstGeom>
          <a:noFill/>
          <a:ln/>
        </p:spPr>
        <p:txBody>
          <a:bodyPr wrap="square" lIns="0" tIns="0" rIns="0" bIns="0" rtlCol="0" anchor="ctr"/>
          <a:lstStyle/>
          <a:p>
            <a:pPr indent="0" marL="0">
              <a:buNone/>
            </a:pPr>
            <a:r>
              <a:rPr lang="en-US" sz="1600" i="1" dirty="0">
                <a:solidFill>
                  <a:srgbClr val="9FB8CC"/>
                </a:solidFill>
                <a:latin typeface="Calibri" pitchFamily="34" charset="0"/>
                <a:ea typeface="Calibri" pitchFamily="34" charset="-122"/>
                <a:cs typeface="Calibri" pitchFamily="34" charset="-120"/>
              </a:rPr>
              <a:t>with a fourth application of the </a:t>
            </a:r>
            <a:pPr indent="0" marL="0">
              <a:buNone/>
            </a:pPr>
            <a:r>
              <a:rPr lang="en-US" sz="1600" b="1" i="1" dirty="0">
                <a:solidFill>
                  <a:srgbClr val="FFFFFF"/>
                </a:solidFill>
                <a:latin typeface="Calibri" pitchFamily="34" charset="0"/>
                <a:ea typeface="Calibri" pitchFamily="34" charset="-122"/>
                <a:cs typeface="Calibri" pitchFamily="34" charset="-120"/>
              </a:rPr>
              <a:t>Domain-Expert Specification (DES) schema</a:t>
            </a:r>
            <a:pPr indent="0" marL="0">
              <a:buNone/>
            </a:pPr>
            <a:r>
              <a:rPr lang="en-US" sz="1600" i="1" dirty="0">
                <a:solidFill>
                  <a:srgbClr val="9FB8CC"/>
                </a:solidFill>
                <a:latin typeface="Calibri" pitchFamily="34" charset="0"/>
                <a:ea typeface="Calibri" pitchFamily="34" charset="-122"/>
                <a:cs typeface="Calibri" pitchFamily="34" charset="-120"/>
              </a:rPr>
              <a:t> developed across the earlier case studies</a:t>
            </a:r>
            <a:endParaRPr lang="en-US" sz="1600" dirty="0"/>
          </a:p>
        </p:txBody>
      </p:sp>
      <p:sp>
        <p:nvSpPr>
          <p:cNvPr id="7" name="Text 4"/>
          <p:cNvSpPr/>
          <p:nvPr/>
        </p:nvSpPr>
        <p:spPr>
          <a:xfrm>
            <a:off x="822960" y="5989320"/>
            <a:ext cx="10515600" cy="365760"/>
          </a:xfrm>
          <a:prstGeom prst="rect">
            <a:avLst/>
          </a:prstGeom>
          <a:noFill/>
          <a:ln/>
        </p:spPr>
        <p:txBody>
          <a:bodyPr wrap="square" lIns="0" tIns="0" rIns="0" bIns="0" rtlCol="0" anchor="ctr"/>
          <a:lstStyle/>
          <a:p>
            <a:pPr indent="0" marL="0">
              <a:buNone/>
            </a:pPr>
            <a:r>
              <a:rPr lang="en-US" sz="1300" dirty="0">
                <a:solidFill>
                  <a:srgbClr val="7E97AB"/>
                </a:solidFill>
                <a:latin typeface="Calibri" pitchFamily="34" charset="0"/>
                <a:ea typeface="Calibri" pitchFamily="34" charset="-122"/>
                <a:cs typeface="Calibri" pitchFamily="34" charset="-120"/>
              </a:rPr>
              <a:t>A. McLeod  ·  development assistant: Claude (Anthropic), Claude Code  ·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ARTIFACT</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100" b="1" dirty="0">
                <a:solidFill>
                  <a:srgbClr val="0A2239"/>
                </a:solidFill>
                <a:latin typeface="Cambria" pitchFamily="34" charset="0"/>
                <a:ea typeface="Cambria" pitchFamily="34" charset="-122"/>
                <a:cs typeface="Cambria" pitchFamily="34" charset="-120"/>
              </a:rPr>
              <a:t>A browser-only C2 shore station and simulator</a:t>
            </a:r>
            <a:endParaRPr lang="en-US" sz="3100" dirty="0"/>
          </a:p>
        </p:txBody>
      </p:sp>
      <p:sp>
        <p:nvSpPr>
          <p:cNvPr id="4" name="Text 2"/>
          <p:cNvSpPr/>
          <p:nvPr/>
        </p:nvSpPr>
        <p:spPr>
          <a:xfrm>
            <a:off x="548640" y="1417320"/>
            <a:ext cx="5943600" cy="4846320"/>
          </a:xfrm>
          <a:prstGeom prst="rect">
            <a:avLst/>
          </a:prstGeom>
          <a:noFill/>
          <a:ln/>
        </p:spPr>
        <p:txBody>
          <a:bodyPr wrap="square" lIns="0" tIns="0" rIns="0" bIns="0" rtlCol="0" anchor="t"/>
          <a:lstStyle/>
          <a:p>
            <a:pPr indent="0" marL="0">
              <a:buNone/>
            </a:pPr>
            <a:r>
              <a:rPr lang="en-US" sz="1400" b="1" dirty="0">
                <a:solidFill>
                  <a:srgbClr val="1A2733"/>
                </a:solidFill>
                <a:latin typeface="Calibri" pitchFamily="34" charset="0"/>
                <a:ea typeface="Calibri" pitchFamily="34" charset="-122"/>
                <a:cs typeface="Calibri" pitchFamily="34" charset="-120"/>
              </a:rPr>
              <a:t>Command-and-control for a small survey ASV, plus a full simulator</a:t>
            </a:r>
            <a:endParaRPr lang="en-US" sz="1400" dirty="0"/>
          </a:p>
          <a:p>
            <a:pPr indent="0" marL="0">
              <a:spcAft>
                <a:spcPts val="1000"/>
              </a:spcAft>
              <a:buNone/>
            </a:pPr>
            <a:r>
              <a:rPr lang="en-US" sz="1400" dirty="0">
                <a:solidFill>
                  <a:srgbClr val="1A2733"/>
                </a:solidFill>
                <a:latin typeface="Calibri" pitchFamily="34" charset="0"/>
                <a:ea typeface="Calibri" pitchFamily="34" charset="-122"/>
                <a:cs typeface="Calibri" pitchFamily="34" charset="-120"/>
              </a:rPr>
              <a:t>Plan surveys, search patterns and transits on a live NOAA ENC chart; run Go-To / Return-to-Home / Hold / Transit against a Vehicle Control Unit — simulated or real.</a:t>
            </a:r>
            <a:endParaRPr lang="en-US" sz="1400" dirty="0"/>
          </a:p>
          <a:p>
            <a:pPr indent="0" marL="0">
              <a:buNone/>
            </a:pPr>
            <a:r>
              <a:rPr lang="en-US" sz="1400" b="1" dirty="0">
                <a:solidFill>
                  <a:srgbClr val="1A2733"/>
                </a:solidFill>
                <a:latin typeface="Calibri" pitchFamily="34" charset="0"/>
                <a:ea typeface="Calibri" pitchFamily="34" charset="-122"/>
                <a:cs typeface="Calibri" pitchFamily="34" charset="-120"/>
              </a:rPr>
              <a:t>Every commanded motion routes clear of charted hazards</a:t>
            </a:r>
            <a:endParaRPr lang="en-US" sz="1400" dirty="0"/>
          </a:p>
          <a:p>
            <a:pPr indent="0" marL="0">
              <a:spcAft>
                <a:spcPts val="1000"/>
              </a:spcAft>
              <a:buNone/>
            </a:pPr>
            <a:r>
              <a:rPr lang="en-US" sz="1400" dirty="0">
                <a:solidFill>
                  <a:srgbClr val="1A2733"/>
                </a:solidFill>
                <a:latin typeface="Calibri" pitchFamily="34" charset="0"/>
                <a:ea typeface="Calibri" pitchFamily="34" charset="-122"/>
                <a:cs typeface="Calibri" pitchFamily="34" charset="-120"/>
              </a:rPr>
              <a:t>A “nogo” model is extracted from the ENC at startup — shoreline, piers, shallow water by vessel draft — and A* routing plans around it.</a:t>
            </a:r>
            <a:endParaRPr lang="en-US" sz="1400" dirty="0"/>
          </a:p>
          <a:p>
            <a:pPr indent="0" marL="0">
              <a:buNone/>
            </a:pPr>
            <a:r>
              <a:rPr lang="en-US" sz="1400" b="1" dirty="0">
                <a:solidFill>
                  <a:srgbClr val="1A2733"/>
                </a:solidFill>
                <a:latin typeface="Calibri" pitchFamily="34" charset="0"/>
                <a:ea typeface="Calibri" pitchFamily="34" charset="-122"/>
                <a:cs typeface="Calibri" pitchFamily="34" charset="-120"/>
              </a:rPr>
              <a:t>Vessel-profile driven</a:t>
            </a:r>
            <a:endParaRPr lang="en-US" sz="1400" dirty="0"/>
          </a:p>
          <a:p>
            <a:pPr indent="0" marL="0">
              <a:spcAft>
                <a:spcPts val="1000"/>
              </a:spcAft>
              <a:buNone/>
            </a:pPr>
            <a:r>
              <a:rPr lang="en-US" sz="1400" dirty="0">
                <a:solidFill>
                  <a:srgbClr val="1A2733"/>
                </a:solidFill>
                <a:latin typeface="Calibri" pitchFamily="34" charset="0"/>
                <a:ea typeface="Calibri" pitchFamily="34" charset="-122"/>
                <a:cs typeface="Calibri" pitchFamily="34" charset="-120"/>
              </a:rPr>
              <a:t>Hull, energy model (battery or diesel), autopilot gains and planning defaults live in one JSON file per vessel; the same mission runs on different hulls.</a:t>
            </a:r>
            <a:endParaRPr lang="en-US" sz="1400" dirty="0"/>
          </a:p>
          <a:p>
            <a:pPr indent="0" marL="0">
              <a:buNone/>
            </a:pPr>
            <a:r>
              <a:rPr lang="en-US" sz="1400" b="1" dirty="0">
                <a:solidFill>
                  <a:srgbClr val="1A2733"/>
                </a:solidFill>
                <a:latin typeface="Calibri" pitchFamily="34" charset="0"/>
                <a:ea typeface="Calibri" pitchFamily="34" charset="-122"/>
                <a:cs typeface="Calibri" pitchFamily="34" charset="-120"/>
              </a:rPr>
              <a:t>Zero dependencies, honest about hardware</a:t>
            </a:r>
            <a:endParaRPr lang="en-US" sz="1400" dirty="0"/>
          </a:p>
          <a:p>
            <a:pPr indent="0" marL="0">
              <a:buNone/>
            </a:pPr>
            <a:r>
              <a:rPr lang="en-US" sz="1400" dirty="0">
                <a:solidFill>
                  <a:srgbClr val="1A2733"/>
                </a:solidFill>
                <a:latin typeface="Calibri" pitchFamily="34" charset="0"/>
                <a:ea typeface="Calibri" pitchFamily="34" charset="-122"/>
                <a:cs typeface="Calibri" pitchFamily="34" charset="-120"/>
              </a:rPr>
              <a:t>Python 3 standard library + vanilla JS only. The real-hardware path refuses to transmit until the wire protocol is captured — it fails honestly rather than guess at a real boat.</a:t>
            </a:r>
            <a:endParaRPr lang="en-US" sz="1400" dirty="0"/>
          </a:p>
        </p:txBody>
      </p:sp>
      <p:sp>
        <p:nvSpPr>
          <p:cNvPr id="5" name="Shape 3"/>
          <p:cNvSpPr/>
          <p:nvPr/>
        </p:nvSpPr>
        <p:spPr>
          <a:xfrm>
            <a:off x="6858000" y="1600200"/>
            <a:ext cx="2331720" cy="1874520"/>
          </a:xfrm>
          <a:prstGeom prst="roundRect">
            <a:avLst>
              <a:gd name="adj" fmla="val 3902"/>
            </a:avLst>
          </a:prstGeom>
          <a:solidFill>
            <a:srgbClr val="EAF2F8"/>
          </a:solidFill>
          <a:ln/>
        </p:spPr>
      </p:sp>
      <p:sp>
        <p:nvSpPr>
          <p:cNvPr id="6" name="Text 4"/>
          <p:cNvSpPr/>
          <p:nvPr/>
        </p:nvSpPr>
        <p:spPr>
          <a:xfrm>
            <a:off x="6995160" y="1783080"/>
            <a:ext cx="2057400" cy="68580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29,868</a:t>
            </a:r>
            <a:endParaRPr lang="en-US" sz="3000" dirty="0"/>
          </a:p>
        </p:txBody>
      </p:sp>
      <p:sp>
        <p:nvSpPr>
          <p:cNvPr id="7" name="Text 5"/>
          <p:cNvSpPr/>
          <p:nvPr/>
        </p:nvSpPr>
        <p:spPr>
          <a:xfrm>
            <a:off x="6995160" y="2514600"/>
            <a:ext cx="2057400" cy="86868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lines across 22 source files</a:t>
            </a:r>
            <a:endParaRPr lang="en-US" sz="1100" dirty="0"/>
          </a:p>
          <a:p>
            <a:pPr indent="0" marL="0">
              <a:buNone/>
            </a:pPr>
            <a:r>
              <a:rPr lang="en-US" sz="1100" dirty="0">
                <a:solidFill>
                  <a:srgbClr val="5A6B7A"/>
                </a:solidFill>
                <a:latin typeface="Calibri" pitchFamily="34" charset="0"/>
                <a:ea typeface="Calibri" pitchFamily="34" charset="-122"/>
                <a:cs typeface="Calibri" pitchFamily="34" charset="-120"/>
              </a:rPr>
              <a:t>(one server file, one UI page, shared modules)</a:t>
            </a:r>
            <a:endParaRPr lang="en-US" sz="1100" dirty="0"/>
          </a:p>
        </p:txBody>
      </p:sp>
      <p:sp>
        <p:nvSpPr>
          <p:cNvPr id="8" name="Shape 6"/>
          <p:cNvSpPr/>
          <p:nvPr/>
        </p:nvSpPr>
        <p:spPr>
          <a:xfrm>
            <a:off x="9372600" y="1600200"/>
            <a:ext cx="2331720" cy="1874520"/>
          </a:xfrm>
          <a:prstGeom prst="roundRect">
            <a:avLst>
              <a:gd name="adj" fmla="val 3902"/>
            </a:avLst>
          </a:prstGeom>
          <a:solidFill>
            <a:srgbClr val="EAF2F8"/>
          </a:solidFill>
          <a:ln/>
        </p:spPr>
      </p:sp>
      <p:sp>
        <p:nvSpPr>
          <p:cNvPr id="9" name="Text 7"/>
          <p:cNvSpPr/>
          <p:nvPr/>
        </p:nvSpPr>
        <p:spPr>
          <a:xfrm>
            <a:off x="9509760" y="1783080"/>
            <a:ext cx="2057400" cy="68580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109</a:t>
            </a:r>
            <a:endParaRPr lang="en-US" sz="3000" dirty="0"/>
          </a:p>
        </p:txBody>
      </p:sp>
      <p:sp>
        <p:nvSpPr>
          <p:cNvPr id="10" name="Text 8"/>
          <p:cNvSpPr/>
          <p:nvPr/>
        </p:nvSpPr>
        <p:spPr>
          <a:xfrm>
            <a:off x="9509760" y="2514600"/>
            <a:ext cx="2057400" cy="86868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commits in 14 days</a:t>
            </a:r>
            <a:endParaRPr lang="en-US" sz="1100" dirty="0"/>
          </a:p>
          <a:p>
            <a:pPr indent="0" marL="0">
              <a:buNone/>
            </a:pPr>
            <a:r>
              <a:rPr lang="en-US" sz="1100" dirty="0">
                <a:solidFill>
                  <a:srgbClr val="5A6B7A"/>
                </a:solidFill>
                <a:latin typeface="Calibri" pitchFamily="34" charset="0"/>
                <a:ea typeface="Calibri" pitchFamily="34" charset="-122"/>
                <a:cs typeface="Calibri" pitchFamily="34" charset="-120"/>
              </a:rPr>
              <a:t>(2026-07-22 → 08-05)</a:t>
            </a:r>
            <a:endParaRPr lang="en-US" sz="1100" dirty="0"/>
          </a:p>
        </p:txBody>
      </p:sp>
      <p:sp>
        <p:nvSpPr>
          <p:cNvPr id="11" name="Shape 9"/>
          <p:cNvSpPr/>
          <p:nvPr/>
        </p:nvSpPr>
        <p:spPr>
          <a:xfrm>
            <a:off x="6858000" y="3703320"/>
            <a:ext cx="2331720" cy="1874520"/>
          </a:xfrm>
          <a:prstGeom prst="roundRect">
            <a:avLst>
              <a:gd name="adj" fmla="val 3902"/>
            </a:avLst>
          </a:prstGeom>
          <a:solidFill>
            <a:srgbClr val="EAF2F8"/>
          </a:solidFill>
          <a:ln/>
        </p:spPr>
      </p:sp>
      <p:sp>
        <p:nvSpPr>
          <p:cNvPr id="12" name="Text 10"/>
          <p:cNvSpPr/>
          <p:nvPr/>
        </p:nvSpPr>
        <p:spPr>
          <a:xfrm>
            <a:off x="6995160" y="3886200"/>
            <a:ext cx="2057400" cy="68580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99</a:t>
            </a:r>
            <a:endParaRPr lang="en-US" sz="3000" dirty="0"/>
          </a:p>
        </p:txBody>
      </p:sp>
      <p:sp>
        <p:nvSpPr>
          <p:cNvPr id="13" name="Text 11"/>
          <p:cNvSpPr/>
          <p:nvPr/>
        </p:nvSpPr>
        <p:spPr>
          <a:xfrm>
            <a:off x="6995160" y="4617720"/>
            <a:ext cx="2057400" cy="86868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regression suites,</a:t>
            </a:r>
            <a:endParaRPr lang="en-US" sz="1100" dirty="0"/>
          </a:p>
          <a:p>
            <a:pPr indent="0" marL="0">
              <a:buNone/>
            </a:pPr>
            <a:r>
              <a:rPr lang="en-US" sz="1100" dirty="0">
                <a:solidFill>
                  <a:srgbClr val="5A6B7A"/>
                </a:solidFill>
                <a:latin typeface="Calibri" pitchFamily="34" charset="0"/>
                <a:ea typeface="Calibri" pitchFamily="34" charset="-122"/>
                <a:cs typeface="Calibri" pitchFamily="34" charset="-120"/>
              </a:rPr>
              <a:t>every one run by the pre-commit hook</a:t>
            </a:r>
            <a:endParaRPr lang="en-US" sz="1100" dirty="0"/>
          </a:p>
        </p:txBody>
      </p:sp>
      <p:sp>
        <p:nvSpPr>
          <p:cNvPr id="14" name="Shape 12"/>
          <p:cNvSpPr/>
          <p:nvPr/>
        </p:nvSpPr>
        <p:spPr>
          <a:xfrm>
            <a:off x="9372600" y="3703320"/>
            <a:ext cx="2331720" cy="1874520"/>
          </a:xfrm>
          <a:prstGeom prst="roundRect">
            <a:avLst>
              <a:gd name="adj" fmla="val 3902"/>
            </a:avLst>
          </a:prstGeom>
          <a:solidFill>
            <a:srgbClr val="EAF2F8"/>
          </a:solidFill>
          <a:ln/>
        </p:spPr>
      </p:sp>
      <p:sp>
        <p:nvSpPr>
          <p:cNvPr id="15" name="Text 13"/>
          <p:cNvSpPr/>
          <p:nvPr/>
        </p:nvSpPr>
        <p:spPr>
          <a:xfrm>
            <a:off x="9509760" y="3886200"/>
            <a:ext cx="2057400" cy="68580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4 + 3</a:t>
            </a:r>
            <a:endParaRPr lang="en-US" sz="3000" dirty="0"/>
          </a:p>
        </p:txBody>
      </p:sp>
      <p:sp>
        <p:nvSpPr>
          <p:cNvPr id="16" name="Text 14"/>
          <p:cNvSpPr/>
          <p:nvPr/>
        </p:nvSpPr>
        <p:spPr>
          <a:xfrm>
            <a:off x="9509760" y="4617720"/>
            <a:ext cx="2057400" cy="86868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generated Word manuals +</a:t>
            </a:r>
            <a:endParaRPr lang="en-US" sz="1100" dirty="0"/>
          </a:p>
          <a:p>
            <a:pPr indent="0" marL="0">
              <a:buNone/>
            </a:pPr>
            <a:r>
              <a:rPr lang="en-US" sz="1100" dirty="0">
                <a:solidFill>
                  <a:srgbClr val="5A6B7A"/>
                </a:solidFill>
                <a:latin typeface="Calibri" pitchFamily="34" charset="0"/>
                <a:ea typeface="Calibri" pitchFamily="34" charset="-122"/>
                <a:cs typeface="Calibri" pitchFamily="34" charset="-120"/>
              </a:rPr>
              <a:t>vessel profiles (data, not code)</a:t>
            </a:r>
            <a:endParaRPr lang="en-US" sz="1100" dirty="0"/>
          </a:p>
        </p:txBody>
      </p:sp>
      <p:sp>
        <p:nvSpPr>
          <p:cNvPr id="17" name="Text 15"/>
          <p:cNvSpPr/>
          <p:nvPr/>
        </p:nvSpPr>
        <p:spPr>
          <a:xfrm>
            <a:off x="6858000" y="5760720"/>
            <a:ext cx="4846320" cy="548640"/>
          </a:xfrm>
          <a:prstGeom prst="rect">
            <a:avLst/>
          </a:prstGeom>
          <a:noFill/>
          <a:ln/>
        </p:spPr>
        <p:txBody>
          <a:bodyPr wrap="square" lIns="0" tIns="0" rIns="0" bIns="0" rtlCol="0" anchor="ctr"/>
          <a:lstStyle/>
          <a:p>
            <a:pPr indent="0" marL="0">
              <a:buNone/>
            </a:pPr>
            <a:r>
              <a:rPr lang="en-US" sz="1150" i="1" dirty="0">
                <a:solidFill>
                  <a:srgbClr val="5A6B7A"/>
                </a:solidFill>
                <a:latin typeface="Calibri" pitchFamily="34" charset="0"/>
                <a:ea typeface="Calibri" pitchFamily="34" charset="-122"/>
                <a:cs typeface="Calibri" pitchFamily="34" charset="-120"/>
              </a:rPr>
              <a:t>Sanitized, brand-free derivative of an operational console — the vendor identity lives in data files, never in code.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100" b="1" dirty="0">
                <a:solidFill>
                  <a:srgbClr val="0A2239"/>
                </a:solidFill>
                <a:latin typeface="Cambria" pitchFamily="34" charset="0"/>
                <a:ea typeface="Cambria" pitchFamily="34" charset="-122"/>
                <a:cs typeface="Cambria" pitchFamily="34" charset="-120"/>
              </a:rPr>
              <a:t>Single-file server, thin browser, one honest seam</a:t>
            </a:r>
            <a:endParaRPr lang="en-US" sz="3100" dirty="0"/>
          </a:p>
        </p:txBody>
      </p:sp>
      <p:sp>
        <p:nvSpPr>
          <p:cNvPr id="4" name="Shape 2"/>
          <p:cNvSpPr/>
          <p:nvPr/>
        </p:nvSpPr>
        <p:spPr>
          <a:xfrm>
            <a:off x="548640" y="1600200"/>
            <a:ext cx="3200400" cy="2286000"/>
          </a:xfrm>
          <a:prstGeom prst="roundRect">
            <a:avLst>
              <a:gd name="adj" fmla="val 2800"/>
            </a:avLst>
          </a:prstGeom>
          <a:solidFill>
            <a:srgbClr val="EAF2F8"/>
          </a:solidFill>
          <a:ln/>
        </p:spPr>
      </p:sp>
      <p:sp>
        <p:nvSpPr>
          <p:cNvPr id="5" name="Text 3"/>
          <p:cNvSpPr/>
          <p:nvPr/>
        </p:nvSpPr>
        <p:spPr>
          <a:xfrm>
            <a:off x="713232" y="1709928"/>
            <a:ext cx="2871216" cy="320040"/>
          </a:xfrm>
          <a:prstGeom prst="rect">
            <a:avLst/>
          </a:prstGeom>
          <a:noFill/>
          <a:ln/>
        </p:spPr>
        <p:txBody>
          <a:bodyPr wrap="square" lIns="0" tIns="0" rIns="0" bIns="0" rtlCol="0" anchor="ctr"/>
          <a:lstStyle/>
          <a:p>
            <a:pPr indent="0" marL="0">
              <a:buNone/>
            </a:pPr>
            <a:r>
              <a:rPr lang="en-US" sz="1400" b="1" dirty="0">
                <a:solidFill>
                  <a:srgbClr val="0A2239"/>
                </a:solidFill>
                <a:latin typeface="Calibri" pitchFamily="34" charset="0"/>
                <a:ea typeface="Calibri" pitchFamily="34" charset="-122"/>
                <a:cs typeface="Calibri" pitchFamily="34" charset="-120"/>
              </a:rPr>
              <a:t>Browser (vanilla JS)</a:t>
            </a:r>
            <a:endParaRPr lang="en-US" sz="1400" dirty="0"/>
          </a:p>
        </p:txBody>
      </p:sp>
      <p:sp>
        <p:nvSpPr>
          <p:cNvPr id="6" name="Text 4"/>
          <p:cNvSpPr/>
          <p:nvPr/>
        </p:nvSpPr>
        <p:spPr>
          <a:xfrm>
            <a:off x="713232" y="2057400"/>
            <a:ext cx="2871216" cy="1719072"/>
          </a:xfrm>
          <a:prstGeom prst="rect">
            <a:avLst/>
          </a:prstGeom>
          <a:noFill/>
          <a:ln/>
        </p:spPr>
        <p:txBody>
          <a:bodyPr wrap="square" lIns="0" tIns="0" rIns="0" bIns="0" rtlCol="0" anchor="t"/>
          <a:lstStyle/>
          <a:p>
            <a:pPr indent="0" marL="0">
              <a:buNone/>
            </a:pPr>
            <a:r>
              <a:rPr lang="en-US" sz="1150" dirty="0">
                <a:solidFill>
                  <a:srgbClr val="1A2733"/>
                </a:solidFill>
                <a:latin typeface="Calibri" pitchFamily="34" charset="0"/>
                <a:ea typeface="Calibri" pitchFamily="34" charset="-122"/>
                <a:cs typeface="Calibri" pitchFamily="34" charset="-120"/>
              </a:rPr>
              <a:t>asv.html — chart window + controls window, bridged over BroadcastChannel</a:t>
            </a:r>
            <a:endParaRPr lang="en-US" sz="1150" dirty="0"/>
          </a:p>
          <a:p>
            <a:pPr indent="0" marL="0">
              <a:buNone/>
            </a:pPr>
            <a:endParaRPr lang="en-US" sz="1150" dirty="0"/>
          </a:p>
          <a:p>
            <a:pPr indent="0" marL="0">
              <a:buNone/>
            </a:pPr>
            <a:r>
              <a:rPr lang="en-US" sz="1150" dirty="0">
                <a:solidFill>
                  <a:srgbClr val="1A2733"/>
                </a:solidFill>
                <a:latin typeface="Calibri" pitchFamily="34" charset="0"/>
                <a:ea typeface="Calibri" pitchFamily="34" charset="-122"/>
                <a:cs typeface="Calibri" pitchFamily="34" charset="-120"/>
              </a:rPr>
              <a:t>playback.html — read-only session review</a:t>
            </a:r>
            <a:endParaRPr lang="en-US" sz="1150" dirty="0"/>
          </a:p>
        </p:txBody>
      </p:sp>
      <p:sp>
        <p:nvSpPr>
          <p:cNvPr id="7" name="Shape 5"/>
          <p:cNvSpPr/>
          <p:nvPr/>
        </p:nvSpPr>
        <p:spPr>
          <a:xfrm>
            <a:off x="4343400" y="1463040"/>
            <a:ext cx="3566160" cy="3383280"/>
          </a:xfrm>
          <a:prstGeom prst="roundRect">
            <a:avLst>
              <a:gd name="adj" fmla="val 1892"/>
            </a:avLst>
          </a:prstGeom>
          <a:solidFill>
            <a:srgbClr val="065A82"/>
          </a:solidFill>
          <a:ln/>
        </p:spPr>
      </p:sp>
      <p:sp>
        <p:nvSpPr>
          <p:cNvPr id="8" name="Text 6"/>
          <p:cNvSpPr/>
          <p:nvPr/>
        </p:nvSpPr>
        <p:spPr>
          <a:xfrm>
            <a:off x="4507992" y="1572768"/>
            <a:ext cx="3236976"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asv_console.py (stdlib only)</a:t>
            </a:r>
            <a:endParaRPr lang="en-US" sz="1400" dirty="0"/>
          </a:p>
        </p:txBody>
      </p:sp>
      <p:sp>
        <p:nvSpPr>
          <p:cNvPr id="9" name="Text 7"/>
          <p:cNvSpPr/>
          <p:nvPr/>
        </p:nvSpPr>
        <p:spPr>
          <a:xfrm>
            <a:off x="4507992" y="1920240"/>
            <a:ext cx="3236976" cy="2816352"/>
          </a:xfrm>
          <a:prstGeom prst="rect">
            <a:avLst/>
          </a:prstGeom>
          <a:noFill/>
          <a:ln/>
        </p:spPr>
        <p:txBody>
          <a:bodyPr wrap="square" lIns="0" tIns="0" rIns="0" bIns="0" rtlCol="0" anchor="t"/>
          <a:lstStyle/>
          <a:p>
            <a:pPr indent="0" marL="0">
              <a:buNone/>
            </a:pPr>
            <a:r>
              <a:rPr lang="en-US" sz="1150" dirty="0">
                <a:solidFill>
                  <a:srgbClr val="D8E8F2"/>
                </a:solidFill>
                <a:latin typeface="Calibri" pitchFamily="34" charset="0"/>
                <a:ea typeface="Calibri" pitchFamily="34" charset="-122"/>
                <a:cs typeface="Calibri" pitchFamily="34" charset="-120"/>
              </a:rPr>
              <a:t>HTTP + SSE server</a:t>
            </a:r>
            <a:endParaRPr lang="en-US" sz="1150" dirty="0"/>
          </a:p>
          <a:p>
            <a:pPr indent="0" marL="0">
              <a:buNone/>
            </a:pPr>
            <a:r>
              <a:rPr lang="en-US" sz="1150" dirty="0">
                <a:solidFill>
                  <a:srgbClr val="D8E8F2"/>
                </a:solidFill>
                <a:latin typeface="Calibri" pitchFamily="34" charset="0"/>
                <a:ea typeface="Calibri" pitchFamily="34" charset="-122"/>
                <a:cs typeface="Calibri" pitchFamily="34" charset="-120"/>
              </a:rPr>
              <a:t>ENC “nogo” extraction &amp; A* route planner</a:t>
            </a:r>
            <a:endParaRPr lang="en-US" sz="1150" dirty="0"/>
          </a:p>
          <a:p>
            <a:pPr indent="0" marL="0">
              <a:buNone/>
            </a:pPr>
            <a:r>
              <a:rPr lang="en-US" sz="1150" dirty="0">
                <a:solidFill>
                  <a:srgbClr val="D8E8F2"/>
                </a:solidFill>
                <a:latin typeface="Calibri" pitchFamily="34" charset="0"/>
                <a:ea typeface="Calibri" pitchFamily="34" charset="-122"/>
                <a:cs typeface="Calibri" pitchFamily="34" charset="-120"/>
              </a:rPr>
              <a:t>Survey / search / transit geometry</a:t>
            </a:r>
            <a:endParaRPr lang="en-US" sz="1150" dirty="0"/>
          </a:p>
          <a:p>
            <a:pPr indent="0" marL="0">
              <a:buNone/>
            </a:pPr>
            <a:r>
              <a:rPr lang="en-US" sz="1150" dirty="0">
                <a:solidFill>
                  <a:srgbClr val="D8E8F2"/>
                </a:solidFill>
                <a:latin typeface="Calibri" pitchFamily="34" charset="0"/>
                <a:ea typeface="Calibri" pitchFamily="34" charset="-122"/>
                <a:cs typeface="Calibri" pitchFamily="34" charset="-120"/>
              </a:rPr>
              <a:t>Sim engine: hull physics, energy, weather</a:t>
            </a:r>
            <a:endParaRPr lang="en-US" sz="1150" dirty="0"/>
          </a:p>
          <a:p>
            <a:pPr indent="0" marL="0">
              <a:buNone/>
            </a:pPr>
            <a:r>
              <a:rPr lang="en-US" sz="1150" dirty="0">
                <a:solidFill>
                  <a:srgbClr val="D8E8F2"/>
                </a:solidFill>
                <a:latin typeface="Calibri" pitchFamily="34" charset="0"/>
                <a:ea typeface="Calibri" pitchFamily="34" charset="-122"/>
                <a:cs typeface="Calibri" pitchFamily="34" charset="-120"/>
              </a:rPr>
              <a:t>Safety gates: SAFE, E-STOP, refusals</a:t>
            </a:r>
            <a:endParaRPr lang="en-US" sz="1150" dirty="0"/>
          </a:p>
          <a:p>
            <a:pPr indent="0" marL="0">
              <a:buNone/>
            </a:pPr>
            <a:r>
              <a:rPr lang="en-US" sz="1150" dirty="0">
                <a:solidFill>
                  <a:srgbClr val="D8E8F2"/>
                </a:solidFill>
                <a:latin typeface="Calibri" pitchFamily="34" charset="0"/>
                <a:ea typeface="Calibri" pitchFamily="34" charset="-122"/>
                <a:cs typeface="Calibri" pitchFamily="34" charset="-120"/>
              </a:rPr>
              <a:t>Session recorder (JSONL)</a:t>
            </a:r>
            <a:endParaRPr lang="en-US" sz="1150" dirty="0"/>
          </a:p>
        </p:txBody>
      </p:sp>
      <p:sp>
        <p:nvSpPr>
          <p:cNvPr id="10" name="Shape 8"/>
          <p:cNvSpPr/>
          <p:nvPr/>
        </p:nvSpPr>
        <p:spPr>
          <a:xfrm>
            <a:off x="8503920" y="1463040"/>
            <a:ext cx="3108960" cy="1554480"/>
          </a:xfrm>
          <a:prstGeom prst="roundRect">
            <a:avLst>
              <a:gd name="adj" fmla="val 4118"/>
            </a:avLst>
          </a:prstGeom>
          <a:solidFill>
            <a:srgbClr val="0A2239"/>
          </a:solidFill>
          <a:ln/>
        </p:spPr>
      </p:sp>
      <p:sp>
        <p:nvSpPr>
          <p:cNvPr id="11" name="Text 9"/>
          <p:cNvSpPr/>
          <p:nvPr/>
        </p:nvSpPr>
        <p:spPr>
          <a:xfrm>
            <a:off x="8668512" y="1572768"/>
            <a:ext cx="2779776"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VCU seam</a:t>
            </a:r>
            <a:endParaRPr lang="en-US" sz="1400" dirty="0"/>
          </a:p>
        </p:txBody>
      </p:sp>
      <p:sp>
        <p:nvSpPr>
          <p:cNvPr id="12" name="Text 10"/>
          <p:cNvSpPr/>
          <p:nvPr/>
        </p:nvSpPr>
        <p:spPr>
          <a:xfrm>
            <a:off x="8668512" y="1920240"/>
            <a:ext cx="2779776" cy="987552"/>
          </a:xfrm>
          <a:prstGeom prst="rect">
            <a:avLst/>
          </a:prstGeom>
          <a:noFill/>
          <a:ln/>
        </p:spPr>
        <p:txBody>
          <a:bodyPr wrap="square" lIns="0" tIns="0" rIns="0" bIns="0" rtlCol="0" anchor="t"/>
          <a:lstStyle/>
          <a:p>
            <a:pPr indent="0" marL="0">
              <a:buNone/>
            </a:pPr>
            <a:r>
              <a:rPr lang="en-US" sz="1150" dirty="0">
                <a:solidFill>
                  <a:srgbClr val="C9D9E8"/>
                </a:solidFill>
                <a:latin typeface="Calibri" pitchFamily="34" charset="0"/>
                <a:ea typeface="Calibri" pitchFamily="34" charset="-122"/>
                <a:cs typeface="Calibri" pitchFamily="34" charset="-120"/>
              </a:rPr>
              <a:t>SimVcu — full vessel simulation</a:t>
            </a:r>
            <a:endParaRPr lang="en-US" sz="1150" dirty="0"/>
          </a:p>
          <a:p>
            <a:pPr indent="0" marL="0">
              <a:buNone/>
            </a:pPr>
            <a:r>
              <a:rPr lang="en-US" sz="1150" dirty="0">
                <a:solidFill>
                  <a:srgbClr val="C9D9E8"/>
                </a:solidFill>
                <a:latin typeface="Calibri" pitchFamily="34" charset="0"/>
                <a:ea typeface="Calibri" pitchFamily="34" charset="-122"/>
                <a:cs typeface="Calibri" pitchFamily="34" charset="-120"/>
              </a:rPr>
              <a:t>RealVcu — opens the transport, REFUSES to command until the protocol is captured</a:t>
            </a:r>
            <a:endParaRPr lang="en-US" sz="1150" dirty="0"/>
          </a:p>
        </p:txBody>
      </p:sp>
      <p:sp>
        <p:nvSpPr>
          <p:cNvPr id="13" name="Shape 11"/>
          <p:cNvSpPr/>
          <p:nvPr/>
        </p:nvSpPr>
        <p:spPr>
          <a:xfrm>
            <a:off x="8503920" y="3291840"/>
            <a:ext cx="3108960" cy="1554480"/>
          </a:xfrm>
          <a:prstGeom prst="roundRect">
            <a:avLst>
              <a:gd name="adj" fmla="val 4118"/>
            </a:avLst>
          </a:prstGeom>
          <a:solidFill>
            <a:srgbClr val="EAF2F8"/>
          </a:solidFill>
          <a:ln/>
        </p:spPr>
      </p:sp>
      <p:sp>
        <p:nvSpPr>
          <p:cNvPr id="14" name="Text 12"/>
          <p:cNvSpPr/>
          <p:nvPr/>
        </p:nvSpPr>
        <p:spPr>
          <a:xfrm>
            <a:off x="8668512" y="3401568"/>
            <a:ext cx="2779776" cy="320040"/>
          </a:xfrm>
          <a:prstGeom prst="rect">
            <a:avLst/>
          </a:prstGeom>
          <a:noFill/>
          <a:ln/>
        </p:spPr>
        <p:txBody>
          <a:bodyPr wrap="square" lIns="0" tIns="0" rIns="0" bIns="0" rtlCol="0" anchor="ctr"/>
          <a:lstStyle/>
          <a:p>
            <a:pPr indent="0" marL="0">
              <a:buNone/>
            </a:pPr>
            <a:r>
              <a:rPr lang="en-US" sz="1400" b="1" dirty="0">
                <a:solidFill>
                  <a:srgbClr val="0A2239"/>
                </a:solidFill>
                <a:latin typeface="Calibri" pitchFamily="34" charset="0"/>
                <a:ea typeface="Calibri" pitchFamily="34" charset="-122"/>
                <a:cs typeface="Calibri" pitchFamily="34" charset="-120"/>
              </a:rPr>
              <a:t>Sidecar processes</a:t>
            </a:r>
            <a:endParaRPr lang="en-US" sz="1400" dirty="0"/>
          </a:p>
        </p:txBody>
      </p:sp>
      <p:sp>
        <p:nvSpPr>
          <p:cNvPr id="15" name="Text 13"/>
          <p:cNvSpPr/>
          <p:nvPr/>
        </p:nvSpPr>
        <p:spPr>
          <a:xfrm>
            <a:off x="8668512" y="3749040"/>
            <a:ext cx="2779776" cy="987552"/>
          </a:xfrm>
          <a:prstGeom prst="rect">
            <a:avLst/>
          </a:prstGeom>
          <a:noFill/>
          <a:ln/>
        </p:spPr>
        <p:txBody>
          <a:bodyPr wrap="square" lIns="0" tIns="0" rIns="0" bIns="0" rtlCol="0" anchor="t"/>
          <a:lstStyle/>
          <a:p>
            <a:pPr indent="0" marL="0">
              <a:buNone/>
            </a:pPr>
            <a:r>
              <a:rPr lang="en-US" sz="1150" dirty="0">
                <a:solidFill>
                  <a:srgbClr val="1A2733"/>
                </a:solidFill>
                <a:latin typeface="Calibri" pitchFamily="34" charset="0"/>
                <a:ea typeface="Calibri" pitchFamily="34" charset="-122"/>
                <a:cs typeface="Calibri" pitchFamily="34" charset="-120"/>
              </a:rPr>
              <a:t>ais_service.py — AIS registry (aisstream / NMEA), own HTTP face</a:t>
            </a:r>
            <a:endParaRPr lang="en-US" sz="1150" dirty="0"/>
          </a:p>
          <a:p>
            <a:pPr indent="0" marL="0">
              <a:buNone/>
            </a:pPr>
            <a:r>
              <a:rPr lang="en-US" sz="1150" dirty="0">
                <a:solidFill>
                  <a:srgbClr val="1A2733"/>
                </a:solidFill>
                <a:latin typeface="Calibri" pitchFamily="34" charset="0"/>
                <a:ea typeface="Calibri" pitchFamily="34" charset="-122"/>
                <a:cs typeface="Calibri" pitchFamily="34" charset="-120"/>
              </a:rPr>
              <a:t>gps_sim.py — NMEA feed for moving-HOME tests</a:t>
            </a:r>
            <a:endParaRPr lang="en-US" sz="1150" dirty="0"/>
          </a:p>
        </p:txBody>
      </p:sp>
      <p:sp>
        <p:nvSpPr>
          <p:cNvPr id="16" name="Shape 14"/>
          <p:cNvSpPr/>
          <p:nvPr/>
        </p:nvSpPr>
        <p:spPr>
          <a:xfrm>
            <a:off x="4343400" y="5074920"/>
            <a:ext cx="7269480" cy="1234440"/>
          </a:xfrm>
          <a:prstGeom prst="roundRect">
            <a:avLst>
              <a:gd name="adj" fmla="val 5185"/>
            </a:avLst>
          </a:prstGeom>
          <a:solidFill>
            <a:srgbClr val="F5F0E6"/>
          </a:solidFill>
          <a:ln/>
        </p:spPr>
      </p:sp>
      <p:sp>
        <p:nvSpPr>
          <p:cNvPr id="17" name="Text 15"/>
          <p:cNvSpPr/>
          <p:nvPr/>
        </p:nvSpPr>
        <p:spPr>
          <a:xfrm>
            <a:off x="4507992" y="5184648"/>
            <a:ext cx="6940296" cy="320040"/>
          </a:xfrm>
          <a:prstGeom prst="rect">
            <a:avLst/>
          </a:prstGeom>
          <a:noFill/>
          <a:ln/>
        </p:spPr>
        <p:txBody>
          <a:bodyPr wrap="square" lIns="0" tIns="0" rIns="0" bIns="0" rtlCol="0" anchor="ctr"/>
          <a:lstStyle/>
          <a:p>
            <a:pPr indent="0" marL="0">
              <a:buNone/>
            </a:pPr>
            <a:r>
              <a:rPr lang="en-US" sz="1400" b="1" dirty="0">
                <a:solidFill>
                  <a:srgbClr val="7A5A18"/>
                </a:solidFill>
                <a:latin typeface="Calibri" pitchFamily="34" charset="0"/>
                <a:ea typeface="Calibri" pitchFamily="34" charset="-122"/>
                <a:cs typeface="Calibri" pitchFamily="34" charset="-120"/>
              </a:rPr>
              <a:t>External truth</a:t>
            </a:r>
            <a:endParaRPr lang="en-US" sz="1400" dirty="0"/>
          </a:p>
        </p:txBody>
      </p:sp>
      <p:sp>
        <p:nvSpPr>
          <p:cNvPr id="18" name="Text 16"/>
          <p:cNvSpPr/>
          <p:nvPr/>
        </p:nvSpPr>
        <p:spPr>
          <a:xfrm>
            <a:off x="4507992" y="5532120"/>
            <a:ext cx="6940296" cy="667512"/>
          </a:xfrm>
          <a:prstGeom prst="rect">
            <a:avLst/>
          </a:prstGeom>
          <a:noFill/>
          <a:ln/>
        </p:spPr>
        <p:txBody>
          <a:bodyPr wrap="square" lIns="0" tIns="0" rIns="0" bIns="0" rtlCol="0" anchor="t"/>
          <a:lstStyle/>
          <a:p>
            <a:pPr indent="0" marL="0">
              <a:buNone/>
            </a:pPr>
            <a:r>
              <a:rPr lang="en-US" sz="1150" dirty="0">
                <a:solidFill>
                  <a:srgbClr val="1A2733"/>
                </a:solidFill>
                <a:latin typeface="Calibri" pitchFamily="34" charset="0"/>
                <a:ea typeface="Calibri" pitchFamily="34" charset="-122"/>
                <a:cs typeface="Calibri" pitchFamily="34" charset="-120"/>
              </a:rPr>
              <a:t>NOAA ENC charts  ·  CO-OPS tides &amp; water level  ·  NDBC buoys (live weather into the sim)  ·  aisstream.io  ·  vessels/*.json profiles</a:t>
            </a:r>
            <a:endParaRPr lang="en-US" sz="1150" dirty="0"/>
          </a:p>
        </p:txBody>
      </p:sp>
      <p:sp>
        <p:nvSpPr>
          <p:cNvPr id="19" name="Shape 17"/>
          <p:cNvSpPr/>
          <p:nvPr/>
        </p:nvSpPr>
        <p:spPr>
          <a:xfrm>
            <a:off x="3749040" y="2651760"/>
            <a:ext cx="594360" cy="0"/>
          </a:xfrm>
          <a:prstGeom prst="line">
            <a:avLst/>
          </a:prstGeom>
          <a:noFill/>
          <a:ln w="25400">
            <a:solidFill>
              <a:srgbClr val="5A6B7A"/>
            </a:solidFill>
            <a:prstDash val="solid"/>
            <a:tailEnd type="triangle"/>
          </a:ln>
        </p:spPr>
      </p:sp>
      <p:sp>
        <p:nvSpPr>
          <p:cNvPr id="20" name="Shape 18"/>
          <p:cNvSpPr/>
          <p:nvPr/>
        </p:nvSpPr>
        <p:spPr>
          <a:xfrm>
            <a:off x="7909560" y="2240280"/>
            <a:ext cx="594360" cy="0"/>
          </a:xfrm>
          <a:prstGeom prst="line">
            <a:avLst/>
          </a:prstGeom>
          <a:noFill/>
          <a:ln w="25400">
            <a:solidFill>
              <a:srgbClr val="5A6B7A"/>
            </a:solidFill>
            <a:prstDash val="solid"/>
            <a:tailEnd type="triangle"/>
          </a:ln>
        </p:spPr>
      </p:sp>
      <p:sp>
        <p:nvSpPr>
          <p:cNvPr id="21" name="Shape 19"/>
          <p:cNvSpPr/>
          <p:nvPr/>
        </p:nvSpPr>
        <p:spPr>
          <a:xfrm>
            <a:off x="7909560" y="4069080"/>
            <a:ext cx="594360" cy="0"/>
          </a:xfrm>
          <a:prstGeom prst="line">
            <a:avLst/>
          </a:prstGeom>
          <a:noFill/>
          <a:ln w="25400">
            <a:solidFill>
              <a:srgbClr val="5A6B7A"/>
            </a:solidFill>
            <a:prstDash val="solid"/>
            <a:tailEnd type="triangle"/>
          </a:ln>
        </p:spPr>
      </p:sp>
      <p:sp>
        <p:nvSpPr>
          <p:cNvPr id="22" name="Shape 20"/>
          <p:cNvSpPr/>
          <p:nvPr/>
        </p:nvSpPr>
        <p:spPr>
          <a:xfrm>
            <a:off x="6309360" y="4846320"/>
            <a:ext cx="0" cy="228600"/>
          </a:xfrm>
          <a:prstGeom prst="line">
            <a:avLst/>
          </a:prstGeom>
          <a:noFill/>
          <a:ln w="25400">
            <a:solidFill>
              <a:srgbClr val="5A6B7A"/>
            </a:solidFill>
            <a:prstDash val="solid"/>
            <a:tailEnd type="triangle"/>
          </a:ln>
        </p:spPr>
      </p:sp>
      <p:sp>
        <p:nvSpPr>
          <p:cNvPr id="23" name="Text 21"/>
          <p:cNvSpPr/>
          <p:nvPr/>
        </p:nvSpPr>
        <p:spPr>
          <a:xfrm>
            <a:off x="3017520" y="2286000"/>
            <a:ext cx="1234440" cy="274320"/>
          </a:xfrm>
          <a:prstGeom prst="rect">
            <a:avLst/>
          </a:prstGeom>
          <a:noFill/>
          <a:ln/>
        </p:spPr>
        <p:txBody>
          <a:bodyPr wrap="square" lIns="0" tIns="0" rIns="0" bIns="0" rtlCol="0" anchor="ctr"/>
          <a:lstStyle/>
          <a:p>
            <a:pPr algn="ctr" indent="0" marL="0">
              <a:buNone/>
            </a:pPr>
            <a:r>
              <a:rPr lang="en-US" sz="950" dirty="0">
                <a:solidFill>
                  <a:srgbClr val="5A6B7A"/>
                </a:solidFill>
                <a:latin typeface="Calibri" pitchFamily="34" charset="0"/>
                <a:ea typeface="Calibri" pitchFamily="34" charset="-122"/>
                <a:cs typeface="Calibri" pitchFamily="34" charset="-120"/>
              </a:rPr>
              <a:t>HTTP + SSE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METHOD</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100" b="1" dirty="0">
                <a:solidFill>
                  <a:srgbClr val="0A2239"/>
                </a:solidFill>
                <a:latin typeface="Cambria" pitchFamily="34" charset="0"/>
                <a:ea typeface="Cambria" pitchFamily="34" charset="-122"/>
                <a:cs typeface="Cambria" pitchFamily="34" charset="-120"/>
              </a:rPr>
              <a:t>Programming by conversation: a division of labor</a:t>
            </a:r>
            <a:endParaRPr lang="en-US" sz="3100" dirty="0"/>
          </a:p>
        </p:txBody>
      </p:sp>
      <p:sp>
        <p:nvSpPr>
          <p:cNvPr id="4" name="Shape 2"/>
          <p:cNvSpPr/>
          <p:nvPr/>
        </p:nvSpPr>
        <p:spPr>
          <a:xfrm>
            <a:off x="548640" y="1463040"/>
            <a:ext cx="5486400" cy="3566160"/>
          </a:xfrm>
          <a:prstGeom prst="roundRect">
            <a:avLst>
              <a:gd name="adj" fmla="val 2051"/>
            </a:avLst>
          </a:prstGeom>
          <a:solidFill>
            <a:srgbClr val="EAF2F8"/>
          </a:solidFill>
          <a:ln/>
        </p:spPr>
      </p:sp>
      <p:sp>
        <p:nvSpPr>
          <p:cNvPr id="5" name="Shape 3"/>
          <p:cNvSpPr/>
          <p:nvPr/>
        </p:nvSpPr>
        <p:spPr>
          <a:xfrm>
            <a:off x="868680" y="1737360"/>
            <a:ext cx="566928" cy="566928"/>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1016081" y="1884761"/>
            <a:ext cx="272125" cy="272125"/>
          </a:xfrm>
          <a:prstGeom prst="rect">
            <a:avLst/>
          </a:prstGeom>
        </p:spPr>
      </p:pic>
      <p:sp>
        <p:nvSpPr>
          <p:cNvPr id="7" name="Text 4"/>
          <p:cNvSpPr/>
          <p:nvPr/>
        </p:nvSpPr>
        <p:spPr>
          <a:xfrm>
            <a:off x="1600200" y="1783080"/>
            <a:ext cx="4297680" cy="548640"/>
          </a:xfrm>
          <a:prstGeom prst="rect">
            <a:avLst/>
          </a:prstGeom>
          <a:noFill/>
          <a:ln/>
        </p:spPr>
        <p:txBody>
          <a:bodyPr wrap="square" lIns="0" tIns="0" rIns="0" bIns="0" rtlCol="0" anchor="ctr"/>
          <a:lstStyle/>
          <a:p>
            <a:pPr indent="0" marL="0">
              <a:buNone/>
            </a:pPr>
            <a:r>
              <a:rPr lang="en-US" sz="1550" b="1" dirty="0">
                <a:solidFill>
                  <a:srgbClr val="0A2239"/>
                </a:solidFill>
                <a:latin typeface="Calibri" pitchFamily="34" charset="0"/>
                <a:ea typeface="Calibri" pitchFamily="34" charset="-122"/>
                <a:cs typeface="Calibri" pitchFamily="34" charset="-120"/>
              </a:rPr>
              <a:t>The domain expert brings the what and the why</a:t>
            </a:r>
            <a:endParaRPr lang="en-US" sz="1550" dirty="0"/>
          </a:p>
        </p:txBody>
      </p:sp>
      <p:sp>
        <p:nvSpPr>
          <p:cNvPr id="8" name="Text 5"/>
          <p:cNvSpPr/>
          <p:nvPr/>
        </p:nvSpPr>
        <p:spPr>
          <a:xfrm>
            <a:off x="914400" y="2468880"/>
            <a:ext cx="4846320" cy="2468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A2733"/>
                </a:solidFill>
                <a:latin typeface="Calibri" pitchFamily="34" charset="0"/>
                <a:ea typeface="Calibri" pitchFamily="34" charset="-122"/>
                <a:cs typeface="Calibri" pitchFamily="34" charset="-120"/>
              </a:rPr>
              <a:t>The device, its address, its repertoire — “the watch I want to stand”</a:t>
            </a:r>
            <a:endParaRPr lang="en-US" sz="1300" dirty="0"/>
          </a:p>
          <a:p>
            <a:pPr marL="342900" indent="-342900">
              <a:spcAft>
                <a:spcPts val="600"/>
              </a:spcAft>
              <a:buSzPct val="100000"/>
              <a:buChar char="•"/>
            </a:pPr>
            <a:r>
              <a:rPr lang="en-US" sz="1300" dirty="0">
                <a:solidFill>
                  <a:srgbClr val="1A2733"/>
                </a:solidFill>
                <a:latin typeface="Calibri" pitchFamily="34" charset="0"/>
                <a:ea typeface="Calibri" pitchFamily="34" charset="-122"/>
                <a:cs typeface="Calibri" pitchFamily="34" charset="-120"/>
              </a:rPr>
              <a:t>Field context that licenses design: constrained water, an unreliable link, an RC failsafe that stays master</a:t>
            </a:r>
            <a:endParaRPr lang="en-US" sz="1300" dirty="0"/>
          </a:p>
          <a:p>
            <a:pPr marL="342900" indent="-342900">
              <a:spcAft>
                <a:spcPts val="600"/>
              </a:spcAft>
              <a:buSzPct val="100000"/>
              <a:buChar char="•"/>
            </a:pPr>
            <a:r>
              <a:rPr lang="en-US" sz="1300" dirty="0">
                <a:solidFill>
                  <a:srgbClr val="1A2733"/>
                </a:solidFill>
                <a:latin typeface="Calibri" pitchFamily="34" charset="0"/>
                <a:ea typeface="Calibri" pitchFamily="34" charset="-122"/>
                <a:cs typeface="Calibri" pitchFamily="34" charset="-120"/>
              </a:rPr>
              <a:t>The suspicion that a reading is wrong — distrust is the practitioner's reusable contribution</a:t>
            </a:r>
            <a:endParaRPr lang="en-US" sz="1300" dirty="0"/>
          </a:p>
          <a:p>
            <a:pPr marL="342900" indent="-342900">
              <a:buSzPct val="100000"/>
              <a:buChar char="•"/>
            </a:pPr>
            <a:r>
              <a:rPr lang="en-US" sz="1300" dirty="0">
                <a:solidFill>
                  <a:srgbClr val="1A2733"/>
                </a:solidFill>
                <a:latin typeface="Calibri" pitchFamily="34" charset="0"/>
                <a:ea typeface="Calibri" pitchFamily="34" charset="-122"/>
                <a:cs typeface="Calibri" pitchFamily="34" charset="-120"/>
              </a:rPr>
              <a:t>Ground truth, and pointers to authoritative references</a:t>
            </a:r>
            <a:endParaRPr lang="en-US" sz="1300" dirty="0"/>
          </a:p>
        </p:txBody>
      </p:sp>
      <p:sp>
        <p:nvSpPr>
          <p:cNvPr id="9" name="Shape 6"/>
          <p:cNvSpPr/>
          <p:nvPr/>
        </p:nvSpPr>
        <p:spPr>
          <a:xfrm>
            <a:off x="6263640" y="1463040"/>
            <a:ext cx="5394960" cy="3566160"/>
          </a:xfrm>
          <a:prstGeom prst="roundRect">
            <a:avLst>
              <a:gd name="adj" fmla="val 2051"/>
            </a:avLst>
          </a:prstGeom>
          <a:solidFill>
            <a:srgbClr val="0A2239"/>
          </a:solidFill>
          <a:ln/>
        </p:spPr>
      </p:sp>
      <p:sp>
        <p:nvSpPr>
          <p:cNvPr id="10" name="Shape 7"/>
          <p:cNvSpPr/>
          <p:nvPr/>
        </p:nvSpPr>
        <p:spPr>
          <a:xfrm>
            <a:off x="6583680" y="1737360"/>
            <a:ext cx="566928" cy="566928"/>
          </a:xfrm>
          <a:prstGeom prst="ellipse">
            <a:avLst/>
          </a:prstGeom>
          <a:solidFill>
            <a:srgbClr val="C9862B"/>
          </a:solidFill>
          <a:ln/>
        </p:spPr>
      </p:sp>
      <p:pic>
        <p:nvPicPr>
          <p:cNvPr id="11" name="Image 1" descr="preencoded.png">    </p:cNvPr>
          <p:cNvPicPr>
            <a:picLocks noChangeAspect="1"/>
          </p:cNvPicPr>
          <p:nvPr/>
        </p:nvPicPr>
        <p:blipFill>
          <a:blip r:embed="rId2"/>
          <a:stretch>
            <a:fillRect/>
          </a:stretch>
        </p:blipFill>
        <p:spPr>
          <a:xfrm>
            <a:off x="6731081" y="1884761"/>
            <a:ext cx="272125" cy="272125"/>
          </a:xfrm>
          <a:prstGeom prst="rect">
            <a:avLst/>
          </a:prstGeom>
        </p:spPr>
      </p:pic>
      <p:sp>
        <p:nvSpPr>
          <p:cNvPr id="12" name="Text 8"/>
          <p:cNvSpPr/>
          <p:nvPr/>
        </p:nvSpPr>
        <p:spPr>
          <a:xfrm>
            <a:off x="7315200" y="1783080"/>
            <a:ext cx="4206240" cy="5486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The agent brings the how — and the discovery</a:t>
            </a:r>
            <a:endParaRPr lang="en-US" sz="1550" dirty="0"/>
          </a:p>
        </p:txBody>
      </p:sp>
      <p:sp>
        <p:nvSpPr>
          <p:cNvPr id="13" name="Text 9"/>
          <p:cNvSpPr/>
          <p:nvPr/>
        </p:nvSpPr>
        <p:spPr>
          <a:xfrm>
            <a:off x="6629400" y="2468880"/>
            <a:ext cx="4800600" cy="2468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D8E8F2"/>
                </a:solidFill>
                <a:latin typeface="Calibri" pitchFamily="34" charset="0"/>
                <a:ea typeface="Calibri" pitchFamily="34" charset="-122"/>
                <a:cs typeface="Calibri" pitchFamily="34" charset="-120"/>
              </a:rPr>
              <a:t>Implementation: geometry, physics, protocol framing, UI, threading</a:t>
            </a:r>
            <a:endParaRPr lang="en-US" sz="1300" dirty="0"/>
          </a:p>
          <a:p>
            <a:pPr marL="342900" indent="-342900">
              <a:spcAft>
                <a:spcPts val="600"/>
              </a:spcAft>
              <a:buSzPct val="100000"/>
              <a:buChar char="•"/>
            </a:pPr>
            <a:r>
              <a:rPr lang="en-US" sz="1300" dirty="0">
                <a:solidFill>
                  <a:srgbClr val="D8E8F2"/>
                </a:solidFill>
                <a:latin typeface="Calibri" pitchFamily="34" charset="0"/>
                <a:ea typeface="Calibri" pitchFamily="34" charset="-122"/>
                <a:cs typeface="Calibri" pitchFamily="34" charset="-120"/>
              </a:rPr>
              <a:t>Empirical discovery: the facts nobody could specify because nobody knew them until the artifact ran</a:t>
            </a:r>
            <a:endParaRPr lang="en-US" sz="1300" dirty="0"/>
          </a:p>
          <a:p>
            <a:pPr marL="342900" indent="-342900">
              <a:spcAft>
                <a:spcPts val="600"/>
              </a:spcAft>
              <a:buSzPct val="100000"/>
              <a:buChar char="•"/>
            </a:pPr>
            <a:r>
              <a:rPr lang="en-US" sz="1300" dirty="0">
                <a:solidFill>
                  <a:srgbClr val="D8E8F2"/>
                </a:solidFill>
                <a:latin typeface="Calibri" pitchFamily="34" charset="0"/>
                <a:ea typeface="Calibri" pitchFamily="34" charset="-122"/>
                <a:cs typeface="Calibri" pitchFamily="34" charset="-120"/>
              </a:rPr>
              <a:t>Refusing the first plausible answer — probing the device, the wire, the rendered pixels</a:t>
            </a:r>
            <a:endParaRPr lang="en-US" sz="1300" dirty="0"/>
          </a:p>
          <a:p>
            <a:pPr marL="342900" indent="-342900">
              <a:buSzPct val="100000"/>
              <a:buChar char="•"/>
            </a:pPr>
            <a:r>
              <a:rPr lang="en-US" sz="1300" dirty="0">
                <a:solidFill>
                  <a:srgbClr val="D8E8F2"/>
                </a:solidFill>
                <a:latin typeface="Calibri" pitchFamily="34" charset="0"/>
                <a:ea typeface="Calibri" pitchFamily="34" charset="-122"/>
                <a:cs typeface="Calibri" pitchFamily="34" charset="-120"/>
              </a:rPr>
              <a:t>Restraint under a blanket grant: authorization is renegotiated per action</a:t>
            </a:r>
            <a:endParaRPr lang="en-US" sz="1300" dirty="0"/>
          </a:p>
        </p:txBody>
      </p:sp>
      <p:sp>
        <p:nvSpPr>
          <p:cNvPr id="14" name="Text 10"/>
          <p:cNvSpPr/>
          <p:nvPr/>
        </p:nvSpPr>
        <p:spPr>
          <a:xfrm>
            <a:off x="548640" y="5257800"/>
            <a:ext cx="4023360" cy="320040"/>
          </a:xfrm>
          <a:prstGeom prst="rect">
            <a:avLst/>
          </a:prstGeom>
          <a:noFill/>
          <a:ln/>
        </p:spPr>
        <p:txBody>
          <a:bodyPr wrap="square" lIns="0" tIns="0" rIns="0" bIns="0" rtlCol="0" anchor="ctr"/>
          <a:lstStyle/>
          <a:p>
            <a:pPr indent="0" marL="0">
              <a:buNone/>
            </a:pPr>
            <a:r>
              <a:rPr lang="en-US" sz="1250" i="1" dirty="0">
                <a:solidFill>
                  <a:srgbClr val="5A6B7A"/>
                </a:solidFill>
                <a:latin typeface="Calibri" pitchFamily="34" charset="0"/>
                <a:ea typeface="Calibri" pitchFamily="34" charset="-122"/>
                <a:cs typeface="Calibri" pitchFamily="34" charset="-120"/>
              </a:rPr>
              <a:t>Every user turn in the series is classifiable:</a:t>
            </a:r>
            <a:endParaRPr lang="en-US" sz="1250" dirty="0"/>
          </a:p>
        </p:txBody>
      </p:sp>
      <p:sp>
        <p:nvSpPr>
          <p:cNvPr id="15" name="Shape 11"/>
          <p:cNvSpPr/>
          <p:nvPr/>
        </p:nvSpPr>
        <p:spPr>
          <a:xfrm>
            <a:off x="548640" y="5623560"/>
            <a:ext cx="1280160" cy="384048"/>
          </a:xfrm>
          <a:prstGeom prst="roundRect">
            <a:avLst>
              <a:gd name="adj" fmla="val 50000"/>
            </a:avLst>
          </a:prstGeom>
          <a:solidFill>
            <a:srgbClr val="1C7293"/>
          </a:solidFill>
          <a:ln/>
        </p:spPr>
      </p:sp>
      <p:sp>
        <p:nvSpPr>
          <p:cNvPr id="16" name="Text 12"/>
          <p:cNvSpPr/>
          <p:nvPr/>
        </p:nvSpPr>
        <p:spPr>
          <a:xfrm>
            <a:off x="548640" y="5623560"/>
            <a:ext cx="1280160"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Specification</a:t>
            </a:r>
            <a:endParaRPr lang="en-US" sz="1100" dirty="0"/>
          </a:p>
        </p:txBody>
      </p:sp>
      <p:sp>
        <p:nvSpPr>
          <p:cNvPr id="17" name="Shape 13"/>
          <p:cNvSpPr/>
          <p:nvPr/>
        </p:nvSpPr>
        <p:spPr>
          <a:xfrm>
            <a:off x="1938528" y="5623560"/>
            <a:ext cx="1280160" cy="384048"/>
          </a:xfrm>
          <a:prstGeom prst="roundRect">
            <a:avLst>
              <a:gd name="adj" fmla="val 50000"/>
            </a:avLst>
          </a:prstGeom>
          <a:solidFill>
            <a:srgbClr val="1C7293"/>
          </a:solidFill>
          <a:ln/>
        </p:spPr>
      </p:sp>
      <p:sp>
        <p:nvSpPr>
          <p:cNvPr id="18" name="Text 14"/>
          <p:cNvSpPr/>
          <p:nvPr/>
        </p:nvSpPr>
        <p:spPr>
          <a:xfrm>
            <a:off x="1938528" y="5623560"/>
            <a:ext cx="1280160"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Feature</a:t>
            </a:r>
            <a:endParaRPr lang="en-US" sz="1100" dirty="0"/>
          </a:p>
        </p:txBody>
      </p:sp>
      <p:sp>
        <p:nvSpPr>
          <p:cNvPr id="19" name="Shape 15"/>
          <p:cNvSpPr/>
          <p:nvPr/>
        </p:nvSpPr>
        <p:spPr>
          <a:xfrm>
            <a:off x="3328416" y="5623560"/>
            <a:ext cx="1280160" cy="384048"/>
          </a:xfrm>
          <a:prstGeom prst="roundRect">
            <a:avLst>
              <a:gd name="adj" fmla="val 50000"/>
            </a:avLst>
          </a:prstGeom>
          <a:solidFill>
            <a:srgbClr val="1C7293"/>
          </a:solidFill>
          <a:ln/>
        </p:spPr>
      </p:sp>
      <p:sp>
        <p:nvSpPr>
          <p:cNvPr id="20" name="Text 16"/>
          <p:cNvSpPr/>
          <p:nvPr/>
        </p:nvSpPr>
        <p:spPr>
          <a:xfrm>
            <a:off x="3328416" y="5623560"/>
            <a:ext cx="1280160"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Defect report</a:t>
            </a:r>
            <a:endParaRPr lang="en-US" sz="1100" dirty="0"/>
          </a:p>
        </p:txBody>
      </p:sp>
      <p:sp>
        <p:nvSpPr>
          <p:cNvPr id="21" name="Shape 17"/>
          <p:cNvSpPr/>
          <p:nvPr/>
        </p:nvSpPr>
        <p:spPr>
          <a:xfrm>
            <a:off x="4718304" y="5623560"/>
            <a:ext cx="1280160" cy="384048"/>
          </a:xfrm>
          <a:prstGeom prst="roundRect">
            <a:avLst>
              <a:gd name="adj" fmla="val 50000"/>
            </a:avLst>
          </a:prstGeom>
          <a:solidFill>
            <a:srgbClr val="1C7293"/>
          </a:solidFill>
          <a:ln/>
        </p:spPr>
      </p:sp>
      <p:sp>
        <p:nvSpPr>
          <p:cNvPr id="22" name="Text 18"/>
          <p:cNvSpPr/>
          <p:nvPr/>
        </p:nvSpPr>
        <p:spPr>
          <a:xfrm>
            <a:off x="4718304" y="5623560"/>
            <a:ext cx="1280160"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Authorization</a:t>
            </a:r>
            <a:endParaRPr lang="en-US" sz="1100" dirty="0"/>
          </a:p>
        </p:txBody>
      </p:sp>
      <p:sp>
        <p:nvSpPr>
          <p:cNvPr id="23" name="Shape 19"/>
          <p:cNvSpPr/>
          <p:nvPr/>
        </p:nvSpPr>
        <p:spPr>
          <a:xfrm>
            <a:off x="6108192" y="5623560"/>
            <a:ext cx="1280160" cy="384048"/>
          </a:xfrm>
          <a:prstGeom prst="roundRect">
            <a:avLst>
              <a:gd name="adj" fmla="val 50000"/>
            </a:avLst>
          </a:prstGeom>
          <a:solidFill>
            <a:srgbClr val="1C7293"/>
          </a:solidFill>
          <a:ln/>
        </p:spPr>
      </p:sp>
      <p:sp>
        <p:nvSpPr>
          <p:cNvPr id="24" name="Text 20"/>
          <p:cNvSpPr/>
          <p:nvPr/>
        </p:nvSpPr>
        <p:spPr>
          <a:xfrm>
            <a:off x="6108192" y="5623560"/>
            <a:ext cx="1280160"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Constraint</a:t>
            </a:r>
            <a:endParaRPr lang="en-US" sz="1100" dirty="0"/>
          </a:p>
        </p:txBody>
      </p:sp>
      <p:sp>
        <p:nvSpPr>
          <p:cNvPr id="25" name="Shape 21"/>
          <p:cNvSpPr/>
          <p:nvPr/>
        </p:nvSpPr>
        <p:spPr>
          <a:xfrm>
            <a:off x="7498080" y="5623560"/>
            <a:ext cx="1280160" cy="384048"/>
          </a:xfrm>
          <a:prstGeom prst="roundRect">
            <a:avLst>
              <a:gd name="adj" fmla="val 50000"/>
            </a:avLst>
          </a:prstGeom>
          <a:solidFill>
            <a:srgbClr val="1C7293"/>
          </a:solidFill>
          <a:ln/>
        </p:spPr>
      </p:sp>
      <p:sp>
        <p:nvSpPr>
          <p:cNvPr id="26" name="Text 22"/>
          <p:cNvSpPr/>
          <p:nvPr/>
        </p:nvSpPr>
        <p:spPr>
          <a:xfrm>
            <a:off x="7498080" y="5623560"/>
            <a:ext cx="1280160"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Deferral</a:t>
            </a:r>
            <a:endParaRPr lang="en-US" sz="1100" dirty="0"/>
          </a:p>
        </p:txBody>
      </p:sp>
      <p:sp>
        <p:nvSpPr>
          <p:cNvPr id="27" name="Shape 23"/>
          <p:cNvSpPr/>
          <p:nvPr/>
        </p:nvSpPr>
        <p:spPr>
          <a:xfrm>
            <a:off x="8887968" y="5623560"/>
            <a:ext cx="1280160" cy="384048"/>
          </a:xfrm>
          <a:prstGeom prst="roundRect">
            <a:avLst>
              <a:gd name="adj" fmla="val 50000"/>
            </a:avLst>
          </a:prstGeom>
          <a:solidFill>
            <a:srgbClr val="1C7293"/>
          </a:solidFill>
          <a:ln/>
        </p:spPr>
      </p:sp>
      <p:sp>
        <p:nvSpPr>
          <p:cNvPr id="28" name="Text 24"/>
          <p:cNvSpPr/>
          <p:nvPr/>
        </p:nvSpPr>
        <p:spPr>
          <a:xfrm>
            <a:off x="8887968" y="5623560"/>
            <a:ext cx="1280160"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Packaging</a:t>
            </a:r>
            <a:endParaRPr lang="en-US" sz="1100" dirty="0"/>
          </a:p>
        </p:txBody>
      </p:sp>
      <p:sp>
        <p:nvSpPr>
          <p:cNvPr id="29" name="Shape 25"/>
          <p:cNvSpPr/>
          <p:nvPr/>
        </p:nvSpPr>
        <p:spPr>
          <a:xfrm>
            <a:off x="10277856" y="5623560"/>
            <a:ext cx="1280160" cy="384048"/>
          </a:xfrm>
          <a:prstGeom prst="roundRect">
            <a:avLst>
              <a:gd name="adj" fmla="val 50000"/>
            </a:avLst>
          </a:prstGeom>
          <a:solidFill>
            <a:srgbClr val="1C7293"/>
          </a:solidFill>
          <a:ln/>
        </p:spPr>
      </p:sp>
      <p:sp>
        <p:nvSpPr>
          <p:cNvPr id="30" name="Text 26"/>
          <p:cNvSpPr/>
          <p:nvPr/>
        </p:nvSpPr>
        <p:spPr>
          <a:xfrm>
            <a:off x="10277856" y="5623560"/>
            <a:ext cx="1280160"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Meta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DES MODEL</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100" b="1" dirty="0">
                <a:solidFill>
                  <a:srgbClr val="0A2239"/>
                </a:solidFill>
                <a:latin typeface="Cambria" pitchFamily="34" charset="0"/>
                <a:ea typeface="Cambria" pitchFamily="34" charset="-122"/>
                <a:cs typeface="Cambria" pitchFamily="34" charset="-120"/>
              </a:rPr>
              <a:t>The Domain-Expert Specification schema: seven slots</a:t>
            </a:r>
            <a:endParaRPr lang="en-US" sz="3100" dirty="0"/>
          </a:p>
        </p:txBody>
      </p:sp>
      <p:sp>
        <p:nvSpPr>
          <p:cNvPr id="4" name="Shape 2"/>
          <p:cNvSpPr/>
          <p:nvPr/>
        </p:nvSpPr>
        <p:spPr>
          <a:xfrm>
            <a:off x="548640" y="1536192"/>
            <a:ext cx="475488" cy="475488"/>
          </a:xfrm>
          <a:prstGeom prst="ellipse">
            <a:avLst/>
          </a:prstGeom>
          <a:solidFill>
            <a:srgbClr val="065A82"/>
          </a:solidFill>
          <a:ln/>
        </p:spPr>
      </p:sp>
      <p:sp>
        <p:nvSpPr>
          <p:cNvPr id="5" name="Text 3"/>
          <p:cNvSpPr/>
          <p:nvPr/>
        </p:nvSpPr>
        <p:spPr>
          <a:xfrm>
            <a:off x="548640" y="153619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207008" y="1463040"/>
            <a:ext cx="4937760" cy="320040"/>
          </a:xfrm>
          <a:prstGeom prst="rect">
            <a:avLst/>
          </a:prstGeom>
          <a:noFill/>
          <a:ln/>
        </p:spPr>
        <p:txBody>
          <a:bodyPr wrap="square" lIns="0" tIns="0" rIns="0" bIns="0" rtlCol="0" anchor="ctr"/>
          <a:lstStyle/>
          <a:p>
            <a:pPr indent="0" marL="0">
              <a:buNone/>
            </a:pPr>
            <a:r>
              <a:rPr lang="en-US" sz="1450" b="1" dirty="0">
                <a:solidFill>
                  <a:srgbClr val="0A2239"/>
                </a:solidFill>
                <a:latin typeface="Calibri" pitchFamily="34" charset="0"/>
                <a:ea typeface="Calibri" pitchFamily="34" charset="-122"/>
                <a:cs typeface="Calibri" pitchFamily="34" charset="-120"/>
              </a:rPr>
              <a:t>Device &amp; interface</a:t>
            </a:r>
            <a:endParaRPr lang="en-US" sz="1450" dirty="0"/>
          </a:p>
        </p:txBody>
      </p:sp>
      <p:sp>
        <p:nvSpPr>
          <p:cNvPr id="7" name="Text 5"/>
          <p:cNvSpPr/>
          <p:nvPr/>
        </p:nvSpPr>
        <p:spPr>
          <a:xfrm>
            <a:off x="1207008" y="1783080"/>
            <a:ext cx="4937760" cy="54864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What it is, where it answers, over what transport</a:t>
            </a:r>
            <a:endParaRPr lang="en-US" sz="1150" dirty="0"/>
          </a:p>
        </p:txBody>
      </p:sp>
      <p:sp>
        <p:nvSpPr>
          <p:cNvPr id="8" name="Shape 6"/>
          <p:cNvSpPr/>
          <p:nvPr/>
        </p:nvSpPr>
        <p:spPr>
          <a:xfrm>
            <a:off x="548640" y="2505456"/>
            <a:ext cx="475488" cy="475488"/>
          </a:xfrm>
          <a:prstGeom prst="ellipse">
            <a:avLst/>
          </a:prstGeom>
          <a:solidFill>
            <a:srgbClr val="065A82"/>
          </a:solidFill>
          <a:ln/>
        </p:spPr>
      </p:sp>
      <p:sp>
        <p:nvSpPr>
          <p:cNvPr id="9" name="Text 7"/>
          <p:cNvSpPr/>
          <p:nvPr/>
        </p:nvSpPr>
        <p:spPr>
          <a:xfrm>
            <a:off x="548640" y="250545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207008" y="2432304"/>
            <a:ext cx="4937760" cy="320040"/>
          </a:xfrm>
          <a:prstGeom prst="rect">
            <a:avLst/>
          </a:prstGeom>
          <a:noFill/>
          <a:ln/>
        </p:spPr>
        <p:txBody>
          <a:bodyPr wrap="square" lIns="0" tIns="0" rIns="0" bIns="0" rtlCol="0" anchor="ctr"/>
          <a:lstStyle/>
          <a:p>
            <a:pPr indent="0" marL="0">
              <a:buNone/>
            </a:pPr>
            <a:r>
              <a:rPr lang="en-US" sz="1450" b="1" dirty="0">
                <a:solidFill>
                  <a:srgbClr val="0A2239"/>
                </a:solidFill>
                <a:latin typeface="Calibri" pitchFamily="34" charset="0"/>
                <a:ea typeface="Calibri" pitchFamily="34" charset="-122"/>
                <a:cs typeface="Calibri" pitchFamily="34" charset="-120"/>
              </a:rPr>
              <a:t>Operational repertoire</a:t>
            </a:r>
            <a:endParaRPr lang="en-US" sz="1450" dirty="0"/>
          </a:p>
        </p:txBody>
      </p:sp>
      <p:sp>
        <p:nvSpPr>
          <p:cNvPr id="11" name="Text 9"/>
          <p:cNvSpPr/>
          <p:nvPr/>
        </p:nvSpPr>
        <p:spPr>
          <a:xfrm>
            <a:off x="1207008" y="2752344"/>
            <a:ext cx="4937760" cy="54864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The actions and readouts wanted — the expert's own hands-on list</a:t>
            </a:r>
            <a:endParaRPr lang="en-US" sz="1150" dirty="0"/>
          </a:p>
        </p:txBody>
      </p:sp>
      <p:sp>
        <p:nvSpPr>
          <p:cNvPr id="12" name="Shape 10"/>
          <p:cNvSpPr/>
          <p:nvPr/>
        </p:nvSpPr>
        <p:spPr>
          <a:xfrm>
            <a:off x="548640" y="3474720"/>
            <a:ext cx="475488" cy="475488"/>
          </a:xfrm>
          <a:prstGeom prst="ellipse">
            <a:avLst/>
          </a:prstGeom>
          <a:solidFill>
            <a:srgbClr val="065A82"/>
          </a:solidFill>
          <a:ln/>
        </p:spPr>
      </p:sp>
      <p:sp>
        <p:nvSpPr>
          <p:cNvPr id="13" name="Text 11"/>
          <p:cNvSpPr/>
          <p:nvPr/>
        </p:nvSpPr>
        <p:spPr>
          <a:xfrm>
            <a:off x="548640" y="347472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207008" y="3401568"/>
            <a:ext cx="4937760" cy="320040"/>
          </a:xfrm>
          <a:prstGeom prst="rect">
            <a:avLst/>
          </a:prstGeom>
          <a:noFill/>
          <a:ln/>
        </p:spPr>
        <p:txBody>
          <a:bodyPr wrap="square" lIns="0" tIns="0" rIns="0" bIns="0" rtlCol="0" anchor="ctr"/>
          <a:lstStyle/>
          <a:p>
            <a:pPr indent="0" marL="0">
              <a:buNone/>
            </a:pPr>
            <a:r>
              <a:rPr lang="en-US" sz="1450" b="1" dirty="0">
                <a:solidFill>
                  <a:srgbClr val="0A2239"/>
                </a:solidFill>
                <a:latin typeface="Calibri" pitchFamily="34" charset="0"/>
                <a:ea typeface="Calibri" pitchFamily="34" charset="-122"/>
                <a:cs typeface="Calibri" pitchFamily="34" charset="-120"/>
              </a:rPr>
              <a:t>Field context &amp; deployment</a:t>
            </a:r>
            <a:endParaRPr lang="en-US" sz="1450" dirty="0"/>
          </a:p>
        </p:txBody>
      </p:sp>
      <p:sp>
        <p:nvSpPr>
          <p:cNvPr id="15" name="Text 13"/>
          <p:cNvSpPr/>
          <p:nvPr/>
        </p:nvSpPr>
        <p:spPr>
          <a:xfrm>
            <a:off x="1207008" y="3721608"/>
            <a:ext cx="4937760" cy="54864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Where it goes and what that licenses (guards, reconnects, refusals)</a:t>
            </a:r>
            <a:endParaRPr lang="en-US" sz="1150" dirty="0"/>
          </a:p>
        </p:txBody>
      </p:sp>
      <p:sp>
        <p:nvSpPr>
          <p:cNvPr id="16" name="Shape 14"/>
          <p:cNvSpPr/>
          <p:nvPr/>
        </p:nvSpPr>
        <p:spPr>
          <a:xfrm>
            <a:off x="548640" y="4443984"/>
            <a:ext cx="475488" cy="475488"/>
          </a:xfrm>
          <a:prstGeom prst="ellipse">
            <a:avLst/>
          </a:prstGeom>
          <a:solidFill>
            <a:srgbClr val="065A82"/>
          </a:solidFill>
          <a:ln/>
        </p:spPr>
      </p:sp>
      <p:sp>
        <p:nvSpPr>
          <p:cNvPr id="17" name="Text 15"/>
          <p:cNvSpPr/>
          <p:nvPr/>
        </p:nvSpPr>
        <p:spPr>
          <a:xfrm>
            <a:off x="548640" y="444398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207008" y="4370832"/>
            <a:ext cx="4937760" cy="320040"/>
          </a:xfrm>
          <a:prstGeom prst="rect">
            <a:avLst/>
          </a:prstGeom>
          <a:noFill/>
          <a:ln/>
        </p:spPr>
        <p:txBody>
          <a:bodyPr wrap="square" lIns="0" tIns="0" rIns="0" bIns="0" rtlCol="0" anchor="ctr"/>
          <a:lstStyle/>
          <a:p>
            <a:pPr indent="0" marL="0">
              <a:buNone/>
            </a:pPr>
            <a:r>
              <a:rPr lang="en-US" sz="1450" b="1" dirty="0">
                <a:solidFill>
                  <a:srgbClr val="0A2239"/>
                </a:solidFill>
                <a:latin typeface="Calibri" pitchFamily="34" charset="0"/>
                <a:ea typeface="Calibri" pitchFamily="34" charset="-122"/>
                <a:cs typeface="Calibri" pitchFamily="34" charset="-120"/>
              </a:rPr>
              <a:t>Authorization &amp; safety envelope</a:t>
            </a:r>
            <a:endParaRPr lang="en-US" sz="1450" dirty="0"/>
          </a:p>
        </p:txBody>
      </p:sp>
      <p:sp>
        <p:nvSpPr>
          <p:cNvPr id="19" name="Text 17"/>
          <p:cNvSpPr/>
          <p:nvPr/>
        </p:nvSpPr>
        <p:spPr>
          <a:xfrm>
            <a:off x="1207008" y="4690872"/>
            <a:ext cx="4937760" cy="54864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What the agent may do to the device — and to the user's data</a:t>
            </a:r>
            <a:endParaRPr lang="en-US" sz="1150" dirty="0"/>
          </a:p>
        </p:txBody>
      </p:sp>
      <p:sp>
        <p:nvSpPr>
          <p:cNvPr id="20" name="Shape 18"/>
          <p:cNvSpPr/>
          <p:nvPr/>
        </p:nvSpPr>
        <p:spPr>
          <a:xfrm>
            <a:off x="6309360" y="1536192"/>
            <a:ext cx="475488" cy="475488"/>
          </a:xfrm>
          <a:prstGeom prst="ellipse">
            <a:avLst/>
          </a:prstGeom>
          <a:solidFill>
            <a:srgbClr val="065A82"/>
          </a:solidFill>
          <a:ln/>
        </p:spPr>
      </p:sp>
      <p:sp>
        <p:nvSpPr>
          <p:cNvPr id="21" name="Text 19"/>
          <p:cNvSpPr/>
          <p:nvPr/>
        </p:nvSpPr>
        <p:spPr>
          <a:xfrm>
            <a:off x="6309360" y="153619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6967728" y="1463040"/>
            <a:ext cx="4937760" cy="320040"/>
          </a:xfrm>
          <a:prstGeom prst="rect">
            <a:avLst/>
          </a:prstGeom>
          <a:noFill/>
          <a:ln/>
        </p:spPr>
        <p:txBody>
          <a:bodyPr wrap="square" lIns="0" tIns="0" rIns="0" bIns="0" rtlCol="0" anchor="ctr"/>
          <a:lstStyle/>
          <a:p>
            <a:pPr indent="0" marL="0">
              <a:buNone/>
            </a:pPr>
            <a:r>
              <a:rPr lang="en-US" sz="1450" b="1" dirty="0">
                <a:solidFill>
                  <a:srgbClr val="0A2239"/>
                </a:solidFill>
                <a:latin typeface="Calibri" pitchFamily="34" charset="0"/>
                <a:ea typeface="Calibri" pitchFamily="34" charset="-122"/>
                <a:cs typeface="Calibri" pitchFamily="34" charset="-120"/>
              </a:rPr>
              <a:t>Deferred parameters</a:t>
            </a:r>
            <a:endParaRPr lang="en-US" sz="1450" dirty="0"/>
          </a:p>
        </p:txBody>
      </p:sp>
      <p:sp>
        <p:nvSpPr>
          <p:cNvPr id="23" name="Text 21"/>
          <p:cNvSpPr/>
          <p:nvPr/>
        </p:nvSpPr>
        <p:spPr>
          <a:xfrm>
            <a:off x="6967728" y="1783080"/>
            <a:ext cx="4937760" cy="54864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Named unknowns left open on purpose, not guessed</a:t>
            </a:r>
            <a:endParaRPr lang="en-US" sz="1150" dirty="0"/>
          </a:p>
        </p:txBody>
      </p:sp>
      <p:sp>
        <p:nvSpPr>
          <p:cNvPr id="24" name="Shape 22"/>
          <p:cNvSpPr/>
          <p:nvPr/>
        </p:nvSpPr>
        <p:spPr>
          <a:xfrm>
            <a:off x="6309360" y="2505456"/>
            <a:ext cx="475488" cy="475488"/>
          </a:xfrm>
          <a:prstGeom prst="ellipse">
            <a:avLst/>
          </a:prstGeom>
          <a:solidFill>
            <a:srgbClr val="065A82"/>
          </a:solidFill>
          <a:ln/>
        </p:spPr>
      </p:sp>
      <p:sp>
        <p:nvSpPr>
          <p:cNvPr id="25" name="Text 23"/>
          <p:cNvSpPr/>
          <p:nvPr/>
        </p:nvSpPr>
        <p:spPr>
          <a:xfrm>
            <a:off x="6309360" y="250545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6" name="Text 24"/>
          <p:cNvSpPr/>
          <p:nvPr/>
        </p:nvSpPr>
        <p:spPr>
          <a:xfrm>
            <a:off x="6967728" y="2432304"/>
            <a:ext cx="4937760" cy="320040"/>
          </a:xfrm>
          <a:prstGeom prst="rect">
            <a:avLst/>
          </a:prstGeom>
          <a:noFill/>
          <a:ln/>
        </p:spPr>
        <p:txBody>
          <a:bodyPr wrap="square" lIns="0" tIns="0" rIns="0" bIns="0" rtlCol="0" anchor="ctr"/>
          <a:lstStyle/>
          <a:p>
            <a:pPr indent="0" marL="0">
              <a:buNone/>
            </a:pPr>
            <a:r>
              <a:rPr lang="en-US" sz="1450" b="1" dirty="0">
                <a:solidFill>
                  <a:srgbClr val="0A2239"/>
                </a:solidFill>
                <a:latin typeface="Calibri" pitchFamily="34" charset="0"/>
                <a:ea typeface="Calibri" pitchFamily="34" charset="-122"/>
                <a:cs typeface="Calibri" pitchFamily="34" charset="-120"/>
              </a:rPr>
              <a:t>Deliverable &amp; distribution</a:t>
            </a:r>
            <a:endParaRPr lang="en-US" sz="1450" dirty="0"/>
          </a:p>
        </p:txBody>
      </p:sp>
      <p:sp>
        <p:nvSpPr>
          <p:cNvPr id="27" name="Text 25"/>
          <p:cNvSpPr/>
          <p:nvPr/>
        </p:nvSpPr>
        <p:spPr>
          <a:xfrm>
            <a:off x="6967728" y="2752344"/>
            <a:ext cx="4937760" cy="54864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The packaged form: runnable file, repository, docs, license</a:t>
            </a:r>
            <a:endParaRPr lang="en-US" sz="1150" dirty="0"/>
          </a:p>
        </p:txBody>
      </p:sp>
      <p:sp>
        <p:nvSpPr>
          <p:cNvPr id="28" name="Shape 26"/>
          <p:cNvSpPr/>
          <p:nvPr/>
        </p:nvSpPr>
        <p:spPr>
          <a:xfrm>
            <a:off x="6309360" y="3474720"/>
            <a:ext cx="475488" cy="475488"/>
          </a:xfrm>
          <a:prstGeom prst="ellipse">
            <a:avLst/>
          </a:prstGeom>
          <a:solidFill>
            <a:srgbClr val="C9862B"/>
          </a:solidFill>
          <a:ln/>
        </p:spPr>
      </p:sp>
      <p:sp>
        <p:nvSpPr>
          <p:cNvPr id="29" name="Text 27"/>
          <p:cNvSpPr/>
          <p:nvPr/>
        </p:nvSpPr>
        <p:spPr>
          <a:xfrm>
            <a:off x="6309360" y="347472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0" name="Text 28"/>
          <p:cNvSpPr/>
          <p:nvPr/>
        </p:nvSpPr>
        <p:spPr>
          <a:xfrm>
            <a:off x="6967728" y="3401568"/>
            <a:ext cx="4937760" cy="320040"/>
          </a:xfrm>
          <a:prstGeom prst="rect">
            <a:avLst/>
          </a:prstGeom>
          <a:noFill/>
          <a:ln/>
        </p:spPr>
        <p:txBody>
          <a:bodyPr wrap="square" lIns="0" tIns="0" rIns="0" bIns="0" rtlCol="0" anchor="ctr"/>
          <a:lstStyle/>
          <a:p>
            <a:pPr indent="0" marL="0">
              <a:buNone/>
            </a:pPr>
            <a:r>
              <a:rPr lang="en-US" sz="1450" b="1" dirty="0">
                <a:solidFill>
                  <a:srgbClr val="0A2239"/>
                </a:solidFill>
                <a:latin typeface="Calibri" pitchFamily="34" charset="0"/>
                <a:ea typeface="Calibri" pitchFamily="34" charset="-122"/>
                <a:cs typeface="Calibri" pitchFamily="34" charset="-120"/>
              </a:rPr>
              <a:t>Verification expectation</a:t>
            </a:r>
            <a:endParaRPr lang="en-US" sz="1450" dirty="0"/>
          </a:p>
        </p:txBody>
      </p:sp>
      <p:sp>
        <p:nvSpPr>
          <p:cNvPr id="31" name="Text 29"/>
          <p:cNvSpPr/>
          <p:nvPr/>
        </p:nvSpPr>
        <p:spPr>
          <a:xfrm>
            <a:off x="6967728" y="3721608"/>
            <a:ext cx="4937760" cy="54864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Verify against reality — ground truth, an independent model, a reference implementation</a:t>
            </a:r>
            <a:endParaRPr lang="en-US" sz="1150" dirty="0"/>
          </a:p>
        </p:txBody>
      </p:sp>
      <p:sp>
        <p:nvSpPr>
          <p:cNvPr id="32" name="Shape 30"/>
          <p:cNvSpPr/>
          <p:nvPr/>
        </p:nvSpPr>
        <p:spPr>
          <a:xfrm>
            <a:off x="6309360" y="4526280"/>
            <a:ext cx="5349240" cy="1783080"/>
          </a:xfrm>
          <a:prstGeom prst="roundRect">
            <a:avLst>
              <a:gd name="adj" fmla="val 4103"/>
            </a:avLst>
          </a:prstGeom>
          <a:solidFill>
            <a:srgbClr val="F5F0E6"/>
          </a:solidFill>
          <a:ln/>
        </p:spPr>
      </p:sp>
      <p:sp>
        <p:nvSpPr>
          <p:cNvPr id="33" name="Text 31"/>
          <p:cNvSpPr/>
          <p:nvPr/>
        </p:nvSpPr>
        <p:spPr>
          <a:xfrm>
            <a:off x="6537960" y="4663440"/>
            <a:ext cx="4937760" cy="320040"/>
          </a:xfrm>
          <a:prstGeom prst="rect">
            <a:avLst/>
          </a:prstGeom>
          <a:noFill/>
          <a:ln/>
        </p:spPr>
        <p:txBody>
          <a:bodyPr wrap="square" lIns="0" tIns="0" rIns="0" bIns="0" rtlCol="0" anchor="ctr"/>
          <a:lstStyle/>
          <a:p>
            <a:pPr indent="0" marL="0">
              <a:buNone/>
            </a:pPr>
            <a:r>
              <a:rPr lang="en-US" sz="1300" b="1" dirty="0">
                <a:solidFill>
                  <a:srgbClr val="7A5A18"/>
                </a:solidFill>
                <a:latin typeface="Calibri" pitchFamily="34" charset="0"/>
                <a:ea typeface="Calibri" pitchFamily="34" charset="-122"/>
                <a:cs typeface="Calibri" pitchFamily="34" charset="-120"/>
              </a:rPr>
              <a:t>Revisions the later cases earned</a:t>
            </a:r>
            <a:endParaRPr lang="en-US" sz="1300" dirty="0"/>
          </a:p>
        </p:txBody>
      </p:sp>
      <p:sp>
        <p:nvSpPr>
          <p:cNvPr id="34" name="Text 32"/>
          <p:cNvSpPr/>
          <p:nvPr/>
        </p:nvSpPr>
        <p:spPr>
          <a:xfrm>
            <a:off x="6537960" y="5029200"/>
            <a:ext cx="4937760" cy="11887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A2733"/>
                </a:solidFill>
                <a:latin typeface="Calibri" pitchFamily="34" charset="0"/>
                <a:ea typeface="Calibri" pitchFamily="34" charset="-122"/>
                <a:cs typeface="Calibri" pitchFamily="34" charset="-120"/>
              </a:rPr>
              <a:t>Slot 4 covers the user's data as well as the device (Starlink case)</a:t>
            </a:r>
            <a:endParaRPr lang="en-US" sz="1100" dirty="0"/>
          </a:p>
          <a:p>
            <a:pPr marL="342900" indent="-342900">
              <a:spcAft>
                <a:spcPts val="400"/>
              </a:spcAft>
              <a:buSzPct val="100000"/>
              <a:buChar char="•"/>
            </a:pPr>
            <a:r>
              <a:rPr lang="en-US" sz="1100" dirty="0">
                <a:solidFill>
                  <a:srgbClr val="1A2733"/>
                </a:solidFill>
                <a:latin typeface="Calibri" pitchFamily="34" charset="0"/>
                <a:ea typeface="Calibri" pitchFamily="34" charset="-122"/>
                <a:cs typeface="Calibri" pitchFamily="34" charset="-120"/>
              </a:rPr>
              <a:t>Proposed slot 8 — delegated scope: the agent may propose extensions, implemented under the same safety envelope (Q-Hub case)</a:t>
            </a:r>
            <a:endParaRPr lang="en-US" sz="1100" dirty="0"/>
          </a:p>
          <a:p>
            <a:pPr marL="342900" indent="-342900">
              <a:buSzPct val="100000"/>
              <a:buChar char="•"/>
            </a:pPr>
            <a:r>
              <a:rPr lang="en-US" sz="1100" dirty="0">
                <a:solidFill>
                  <a:srgbClr val="1A2733"/>
                </a:solidFill>
                <a:latin typeface="Calibri" pitchFamily="34" charset="0"/>
                <a:ea typeface="Calibri" pitchFamily="34" charset="-122"/>
                <a:cs typeface="Calibri" pitchFamily="34" charset="-120"/>
              </a:rPr>
              <a:t>Slot 7 names two obligations: verifying the build and verifying the thing in use (Q-Hub, post-delivery defects)</a:t>
            </a:r>
            <a:endParaRPr lang="en-US" sz="1100" dirty="0"/>
          </a:p>
        </p:txBody>
      </p:sp>
      <p:sp>
        <p:nvSpPr>
          <p:cNvPr id="35" name="Text 33"/>
          <p:cNvSpPr/>
          <p:nvPr/>
        </p:nvSpPr>
        <p:spPr>
          <a:xfrm>
            <a:off x="548640" y="5532120"/>
            <a:ext cx="5394960" cy="777240"/>
          </a:xfrm>
          <a:prstGeom prst="rect">
            <a:avLst/>
          </a:prstGeom>
          <a:noFill/>
          <a:ln/>
        </p:spPr>
        <p:txBody>
          <a:bodyPr wrap="square" lIns="0" tIns="0" rIns="0" bIns="0" rtlCol="0" anchor="ctr"/>
          <a:lstStyle/>
          <a:p>
            <a:pPr indent="0" marL="0">
              <a:buNone/>
            </a:pPr>
            <a:r>
              <a:rPr lang="en-US" sz="1250" i="1" dirty="0">
                <a:solidFill>
                  <a:srgbClr val="065A82"/>
                </a:solidFill>
                <a:latin typeface="Calibri" pitchFamily="34" charset="0"/>
                <a:ea typeface="Calibri" pitchFamily="34" charset="-122"/>
                <a:cs typeface="Calibri" pitchFamily="34" charset="-120"/>
              </a:rPr>
              <a:t>Hypothesis: filling these seven slots up front removes the correction turns — and only those, because discovery was never a specification gap.</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PROVENANCE</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100" b="1" dirty="0">
                <a:solidFill>
                  <a:srgbClr val="0A2239"/>
                </a:solidFill>
                <a:latin typeface="Cambria" pitchFamily="34" charset="0"/>
                <a:ea typeface="Cambria" pitchFamily="34" charset="-122"/>
                <a:cs typeface="Cambria" pitchFamily="34" charset="-120"/>
              </a:rPr>
              <a:t>Four case studies: propose, grade, apply, extend</a:t>
            </a:r>
            <a:endParaRPr lang="en-US" sz="3100" dirty="0"/>
          </a:p>
        </p:txBody>
      </p:sp>
      <p:sp>
        <p:nvSpPr>
          <p:cNvPr id="4" name="Shape 2"/>
          <p:cNvSpPr/>
          <p:nvPr/>
        </p:nvSpPr>
        <p:spPr>
          <a:xfrm>
            <a:off x="548640" y="1417320"/>
            <a:ext cx="11064240" cy="1078992"/>
          </a:xfrm>
          <a:prstGeom prst="roundRect">
            <a:avLst>
              <a:gd name="adj" fmla="val 5932"/>
            </a:avLst>
          </a:prstGeom>
          <a:solidFill>
            <a:srgbClr val="EAF2F8"/>
          </a:solidFill>
          <a:ln w="9525">
            <a:solidFill>
              <a:srgbClr val="D5E2EC"/>
            </a:solidFill>
            <a:prstDash val="solid"/>
          </a:ln>
        </p:spPr>
      </p:sp>
      <p:sp>
        <p:nvSpPr>
          <p:cNvPr id="5" name="Shape 3"/>
          <p:cNvSpPr/>
          <p:nvPr/>
        </p:nvSpPr>
        <p:spPr>
          <a:xfrm>
            <a:off x="777240" y="1673352"/>
            <a:ext cx="566928" cy="566928"/>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924641" y="1820753"/>
            <a:ext cx="272125" cy="272125"/>
          </a:xfrm>
          <a:prstGeom prst="rect">
            <a:avLst/>
          </a:prstGeom>
        </p:spPr>
      </p:pic>
      <p:sp>
        <p:nvSpPr>
          <p:cNvPr id="7" name="Text 4"/>
          <p:cNvSpPr/>
          <p:nvPr/>
        </p:nvSpPr>
        <p:spPr>
          <a:xfrm>
            <a:off x="1554480" y="1527048"/>
            <a:ext cx="2377440" cy="822960"/>
          </a:xfrm>
          <a:prstGeom prst="rect">
            <a:avLst/>
          </a:prstGeom>
          <a:noFill/>
          <a:ln/>
        </p:spPr>
        <p:txBody>
          <a:bodyPr wrap="square" lIns="0" tIns="0" rIns="0" bIns="0" rtlCol="0" anchor="ctr"/>
          <a:lstStyle/>
          <a:p>
            <a:pPr indent="0" marL="0">
              <a:buNone/>
            </a:pPr>
            <a:r>
              <a:rPr lang="en-US" sz="1400" b="1" dirty="0">
                <a:solidFill>
                  <a:srgbClr val="0A2239"/>
                </a:solidFill>
                <a:latin typeface="Calibri" pitchFamily="34" charset="0"/>
                <a:ea typeface="Calibri" pitchFamily="34" charset="-122"/>
                <a:cs typeface="Calibri" pitchFamily="34" charset="-120"/>
              </a:rPr>
              <a:t>Modbus relay board</a:t>
            </a:r>
            <a:endParaRPr lang="en-US" sz="1400" dirty="0"/>
          </a:p>
        </p:txBody>
      </p:sp>
      <p:sp>
        <p:nvSpPr>
          <p:cNvPr id="8" name="Text 5"/>
          <p:cNvSpPr/>
          <p:nvPr/>
        </p:nvSpPr>
        <p:spPr>
          <a:xfrm>
            <a:off x="3977640" y="1527048"/>
            <a:ext cx="3383280" cy="86868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Reverse-engineered a hidden Modbus dialect; scripted a relay by conversation.</a:t>
            </a:r>
            <a:endParaRPr lang="en-US" sz="1100" dirty="0"/>
          </a:p>
        </p:txBody>
      </p:sp>
      <p:sp>
        <p:nvSpPr>
          <p:cNvPr id="9" name="Text 6"/>
          <p:cNvSpPr/>
          <p:nvPr/>
        </p:nvSpPr>
        <p:spPr>
          <a:xfrm>
            <a:off x="7498080" y="1527048"/>
            <a:ext cx="3931920" cy="86868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Schema PROPOSED from the transcript — a seven-slot hypothesis, one supporting story.</a:t>
            </a:r>
            <a:endParaRPr lang="en-US" sz="1100" dirty="0"/>
          </a:p>
        </p:txBody>
      </p:sp>
      <p:sp>
        <p:nvSpPr>
          <p:cNvPr id="10" name="Shape 7"/>
          <p:cNvSpPr/>
          <p:nvPr/>
        </p:nvSpPr>
        <p:spPr>
          <a:xfrm>
            <a:off x="548640" y="2624328"/>
            <a:ext cx="11064240" cy="1078992"/>
          </a:xfrm>
          <a:prstGeom prst="roundRect">
            <a:avLst>
              <a:gd name="adj" fmla="val 5932"/>
            </a:avLst>
          </a:prstGeom>
          <a:solidFill>
            <a:srgbClr val="FFFFFF"/>
          </a:solidFill>
          <a:ln w="9525">
            <a:solidFill>
              <a:srgbClr val="D5E2EC"/>
            </a:solidFill>
            <a:prstDash val="solid"/>
          </a:ln>
        </p:spPr>
      </p:sp>
      <p:sp>
        <p:nvSpPr>
          <p:cNvPr id="11" name="Shape 8"/>
          <p:cNvSpPr/>
          <p:nvPr/>
        </p:nvSpPr>
        <p:spPr>
          <a:xfrm>
            <a:off x="777240" y="2880360"/>
            <a:ext cx="566928" cy="566928"/>
          </a:xfrm>
          <a:prstGeom prst="ellipse">
            <a:avLst/>
          </a:prstGeom>
          <a:solidFill>
            <a:srgbClr val="065A82"/>
          </a:solidFill>
          <a:ln/>
        </p:spPr>
      </p:sp>
      <p:pic>
        <p:nvPicPr>
          <p:cNvPr id="12" name="Image 1" descr="preencoded.png">    </p:cNvPr>
          <p:cNvPicPr>
            <a:picLocks noChangeAspect="1"/>
          </p:cNvPicPr>
          <p:nvPr/>
        </p:nvPicPr>
        <p:blipFill>
          <a:blip r:embed="rId2"/>
          <a:stretch>
            <a:fillRect/>
          </a:stretch>
        </p:blipFill>
        <p:spPr>
          <a:xfrm>
            <a:off x="924641" y="3027761"/>
            <a:ext cx="272125" cy="272125"/>
          </a:xfrm>
          <a:prstGeom prst="rect">
            <a:avLst/>
          </a:prstGeom>
        </p:spPr>
      </p:pic>
      <p:sp>
        <p:nvSpPr>
          <p:cNvPr id="13" name="Text 9"/>
          <p:cNvSpPr/>
          <p:nvPr/>
        </p:nvSpPr>
        <p:spPr>
          <a:xfrm>
            <a:off x="1554480" y="2734056"/>
            <a:ext cx="2377440" cy="822960"/>
          </a:xfrm>
          <a:prstGeom prst="rect">
            <a:avLst/>
          </a:prstGeom>
          <a:noFill/>
          <a:ln/>
        </p:spPr>
        <p:txBody>
          <a:bodyPr wrap="square" lIns="0" tIns="0" rIns="0" bIns="0" rtlCol="0" anchor="ctr"/>
          <a:lstStyle/>
          <a:p>
            <a:pPr indent="0" marL="0">
              <a:buNone/>
            </a:pPr>
            <a:r>
              <a:rPr lang="en-US" sz="1400" b="1" dirty="0">
                <a:solidFill>
                  <a:srgbClr val="0A2239"/>
                </a:solidFill>
                <a:latin typeface="Calibri" pitchFamily="34" charset="0"/>
                <a:ea typeface="Calibri" pitchFamily="34" charset="-122"/>
                <a:cs typeface="Calibri" pitchFamily="34" charset="-120"/>
              </a:rPr>
              <a:t>Starlink dish monitor</a:t>
            </a:r>
            <a:endParaRPr lang="en-US" sz="1400" dirty="0"/>
          </a:p>
        </p:txBody>
      </p:sp>
      <p:sp>
        <p:nvSpPr>
          <p:cNvPr id="14" name="Text 10"/>
          <p:cNvSpPr/>
          <p:nvPr/>
        </p:nvSpPr>
        <p:spPr>
          <a:xfrm>
            <a:off x="3977640" y="2734056"/>
            <a:ext cx="3383280" cy="86868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Undocumented gRPC; shifted field numbers; three telemetry readings that lie.</a:t>
            </a:r>
            <a:endParaRPr lang="en-US" sz="1100" dirty="0"/>
          </a:p>
        </p:txBody>
      </p:sp>
      <p:sp>
        <p:nvSpPr>
          <p:cNvPr id="15" name="Text 11"/>
          <p:cNvSpPr/>
          <p:nvPr/>
        </p:nvSpPr>
        <p:spPr>
          <a:xfrm>
            <a:off x="7498080" y="2734056"/>
            <a:ext cx="3931920" cy="86868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Graded RETROSPECTIVELY: 6 of 7 slots transfer; the seam (data handling) is named.</a:t>
            </a:r>
            <a:endParaRPr lang="en-US" sz="1100" dirty="0"/>
          </a:p>
        </p:txBody>
      </p:sp>
      <p:sp>
        <p:nvSpPr>
          <p:cNvPr id="16" name="Shape 12"/>
          <p:cNvSpPr/>
          <p:nvPr/>
        </p:nvSpPr>
        <p:spPr>
          <a:xfrm>
            <a:off x="548640" y="3831336"/>
            <a:ext cx="11064240" cy="1078992"/>
          </a:xfrm>
          <a:prstGeom prst="roundRect">
            <a:avLst>
              <a:gd name="adj" fmla="val 5932"/>
            </a:avLst>
          </a:prstGeom>
          <a:solidFill>
            <a:srgbClr val="EAF2F8"/>
          </a:solidFill>
          <a:ln w="9525">
            <a:solidFill>
              <a:srgbClr val="D5E2EC"/>
            </a:solidFill>
            <a:prstDash val="solid"/>
          </a:ln>
        </p:spPr>
      </p:sp>
      <p:sp>
        <p:nvSpPr>
          <p:cNvPr id="17" name="Shape 13"/>
          <p:cNvSpPr/>
          <p:nvPr/>
        </p:nvSpPr>
        <p:spPr>
          <a:xfrm>
            <a:off x="777240" y="4087368"/>
            <a:ext cx="566928" cy="566928"/>
          </a:xfrm>
          <a:prstGeom prst="ellipse">
            <a:avLst/>
          </a:prstGeom>
          <a:solidFill>
            <a:srgbClr val="065A82"/>
          </a:solidFill>
          <a:ln/>
        </p:spPr>
      </p:sp>
      <p:pic>
        <p:nvPicPr>
          <p:cNvPr id="18" name="Image 2" descr="preencoded.png">    </p:cNvPr>
          <p:cNvPicPr>
            <a:picLocks noChangeAspect="1"/>
          </p:cNvPicPr>
          <p:nvPr/>
        </p:nvPicPr>
        <p:blipFill>
          <a:blip r:embed="rId3"/>
          <a:stretch>
            <a:fillRect/>
          </a:stretch>
        </p:blipFill>
        <p:spPr>
          <a:xfrm>
            <a:off x="924641" y="4234769"/>
            <a:ext cx="272125" cy="272125"/>
          </a:xfrm>
          <a:prstGeom prst="rect">
            <a:avLst/>
          </a:prstGeom>
        </p:spPr>
      </p:pic>
      <p:sp>
        <p:nvSpPr>
          <p:cNvPr id="19" name="Text 14"/>
          <p:cNvSpPr/>
          <p:nvPr/>
        </p:nvSpPr>
        <p:spPr>
          <a:xfrm>
            <a:off x="1554480" y="3941064"/>
            <a:ext cx="2377440" cy="822960"/>
          </a:xfrm>
          <a:prstGeom prst="rect">
            <a:avLst/>
          </a:prstGeom>
          <a:noFill/>
          <a:ln/>
        </p:spPr>
        <p:txBody>
          <a:bodyPr wrap="square" lIns="0" tIns="0" rIns="0" bIns="0" rtlCol="0" anchor="ctr"/>
          <a:lstStyle/>
          <a:p>
            <a:pPr indent="0" marL="0">
              <a:buNone/>
            </a:pPr>
            <a:r>
              <a:rPr lang="en-US" sz="1400" b="1" dirty="0">
                <a:solidFill>
                  <a:srgbClr val="0A2239"/>
                </a:solidFill>
                <a:latin typeface="Calibri" pitchFamily="34" charset="0"/>
                <a:ea typeface="Calibri" pitchFamily="34" charset="-122"/>
                <a:cs typeface="Calibri" pitchFamily="34" charset="-120"/>
              </a:rPr>
              <a:t>Q-Hub relay switch</a:t>
            </a:r>
            <a:endParaRPr lang="en-US" sz="1400" dirty="0"/>
          </a:p>
        </p:txBody>
      </p:sp>
      <p:sp>
        <p:nvSpPr>
          <p:cNvPr id="20" name="Text 15"/>
          <p:cNvSpPr/>
          <p:nvPr/>
        </p:nvSpPr>
        <p:spPr>
          <a:xfrm>
            <a:off x="3977640" y="3941064"/>
            <a:ext cx="3383280" cy="86868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No protocol at all; recovered by decompiling the vendor's own utility.</a:t>
            </a:r>
            <a:endParaRPr lang="en-US" sz="1100" dirty="0"/>
          </a:p>
        </p:txBody>
      </p:sp>
      <p:sp>
        <p:nvSpPr>
          <p:cNvPr id="21" name="Text 16"/>
          <p:cNvSpPr/>
          <p:nvPr/>
        </p:nvSpPr>
        <p:spPr>
          <a:xfrm>
            <a:off x="7498080" y="3941064"/>
            <a:ext cx="3931920" cy="86868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Applied PROSPECTIVELY: the opening turn was written in schema form → 3 turns to a shipped tool. Real use added two defect turns: build-time vs in-use verification.</a:t>
            </a:r>
            <a:endParaRPr lang="en-US" sz="1100" dirty="0"/>
          </a:p>
        </p:txBody>
      </p:sp>
      <p:sp>
        <p:nvSpPr>
          <p:cNvPr id="22" name="Shape 17"/>
          <p:cNvSpPr/>
          <p:nvPr/>
        </p:nvSpPr>
        <p:spPr>
          <a:xfrm>
            <a:off x="548640" y="5038344"/>
            <a:ext cx="11064240" cy="1078992"/>
          </a:xfrm>
          <a:prstGeom prst="roundRect">
            <a:avLst>
              <a:gd name="adj" fmla="val 5932"/>
            </a:avLst>
          </a:prstGeom>
          <a:solidFill>
            <a:srgbClr val="FFFFFF"/>
          </a:solidFill>
          <a:ln w="9525">
            <a:solidFill>
              <a:srgbClr val="D5E2EC"/>
            </a:solidFill>
            <a:prstDash val="solid"/>
          </a:ln>
        </p:spPr>
      </p:sp>
      <p:sp>
        <p:nvSpPr>
          <p:cNvPr id="23" name="Shape 18"/>
          <p:cNvSpPr/>
          <p:nvPr/>
        </p:nvSpPr>
        <p:spPr>
          <a:xfrm>
            <a:off x="777240" y="5294376"/>
            <a:ext cx="566928" cy="566928"/>
          </a:xfrm>
          <a:prstGeom prst="ellipse">
            <a:avLst/>
          </a:prstGeom>
          <a:solidFill>
            <a:srgbClr val="065A82"/>
          </a:solidFill>
          <a:ln/>
        </p:spPr>
      </p:sp>
      <p:pic>
        <p:nvPicPr>
          <p:cNvPr id="24" name="Image 3" descr="preencoded.png">    </p:cNvPr>
          <p:cNvPicPr>
            <a:picLocks noChangeAspect="1"/>
          </p:cNvPicPr>
          <p:nvPr/>
        </p:nvPicPr>
        <p:blipFill>
          <a:blip r:embed="rId4"/>
          <a:stretch>
            <a:fillRect/>
          </a:stretch>
        </p:blipFill>
        <p:spPr>
          <a:xfrm>
            <a:off x="924641" y="5441777"/>
            <a:ext cx="272125" cy="272125"/>
          </a:xfrm>
          <a:prstGeom prst="rect">
            <a:avLst/>
          </a:prstGeom>
        </p:spPr>
      </p:pic>
      <p:sp>
        <p:nvSpPr>
          <p:cNvPr id="25" name="Text 19"/>
          <p:cNvSpPr/>
          <p:nvPr/>
        </p:nvSpPr>
        <p:spPr>
          <a:xfrm>
            <a:off x="1554480" y="5148072"/>
            <a:ext cx="2377440" cy="822960"/>
          </a:xfrm>
          <a:prstGeom prst="rect">
            <a:avLst/>
          </a:prstGeom>
          <a:noFill/>
          <a:ln/>
        </p:spPr>
        <p:txBody>
          <a:bodyPr wrap="square" lIns="0" tIns="0" rIns="0" bIns="0" rtlCol="0" anchor="ctr"/>
          <a:lstStyle/>
          <a:p>
            <a:pPr indent="0" marL="0">
              <a:buNone/>
            </a:pPr>
            <a:r>
              <a:rPr lang="en-US" sz="1400" b="1" dirty="0">
                <a:solidFill>
                  <a:srgbClr val="0A2239"/>
                </a:solidFill>
                <a:latin typeface="Calibri" pitchFamily="34" charset="0"/>
                <a:ea typeface="Calibri" pitchFamily="34" charset="-122"/>
                <a:cs typeface="Calibri" pitchFamily="34" charset="-120"/>
              </a:rPr>
              <a:t>DeltaT sonar console</a:t>
            </a:r>
            <a:endParaRPr lang="en-US" sz="1400" dirty="0"/>
          </a:p>
        </p:txBody>
      </p:sp>
      <p:sp>
        <p:nvSpPr>
          <p:cNvPr id="26" name="Text 20"/>
          <p:cNvSpPr/>
          <p:nvPr/>
        </p:nvSpPr>
        <p:spPr>
          <a:xfrm>
            <a:off x="3977640" y="5148072"/>
            <a:ext cx="3383280" cy="86868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Proprietary multibeam head; formats recovered from real survey files; a public driver as reference.</a:t>
            </a:r>
            <a:endParaRPr lang="en-US" sz="1100" dirty="0"/>
          </a:p>
        </p:txBody>
      </p:sp>
      <p:sp>
        <p:nvSpPr>
          <p:cNvPr id="27" name="Text 21"/>
          <p:cNvSpPr/>
          <p:nvPr/>
        </p:nvSpPr>
        <p:spPr>
          <a:xfrm>
            <a:off x="7498080" y="5148072"/>
            <a:ext cx="3931920" cy="86868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EXTENDED: “reality” includes authoritative references the expert knows to exist — and naming them is domain expertise.</a:t>
            </a:r>
            <a:endParaRPr lang="en-US" sz="1100" dirty="0"/>
          </a:p>
        </p:txBody>
      </p:sp>
      <p:sp>
        <p:nvSpPr>
          <p:cNvPr id="28" name="Text 22"/>
          <p:cNvSpPr/>
          <p:nvPr/>
        </p:nvSpPr>
        <p:spPr>
          <a:xfrm>
            <a:off x="548640" y="6263640"/>
            <a:ext cx="11064240" cy="365760"/>
          </a:xfrm>
          <a:prstGeom prst="rect">
            <a:avLst/>
          </a:prstGeom>
          <a:noFill/>
          <a:ln/>
        </p:spPr>
        <p:txBody>
          <a:bodyPr wrap="square" lIns="0" tIns="0" rIns="0" bIns="0" rtlCol="0" anchor="ctr"/>
          <a:lstStyle/>
          <a:p>
            <a:pPr indent="0" marL="0">
              <a:buNone/>
            </a:pPr>
            <a:r>
              <a:rPr lang="en-US" sz="1250" i="1" dirty="0">
                <a:solidFill>
                  <a:srgbClr val="065A82"/>
                </a:solidFill>
                <a:latin typeface="Calibri" pitchFamily="34" charset="0"/>
                <a:ea typeface="Calibri" pitchFamily="34" charset="-122"/>
                <a:cs typeface="Calibri" pitchFamily="34" charset="-120"/>
              </a:rPr>
              <a:t>Common thread: every device held at least one reading that was present, plausible, and wrong — caught only by distrust and an independent truth.</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SCHEMA, READ AGAINST THIS PROJECT</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100" b="1" dirty="0">
                <a:solidFill>
                  <a:srgbClr val="0A2239"/>
                </a:solidFill>
                <a:latin typeface="Cambria" pitchFamily="34" charset="0"/>
                <a:ea typeface="Cambria" pitchFamily="34" charset="-122"/>
                <a:cs typeface="Cambria" pitchFamily="34" charset="-120"/>
              </a:rPr>
              <a:t>The ASV console instantiates all seven slots</a:t>
            </a:r>
            <a:endParaRPr lang="en-US" sz="3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8686800"/>
              </a:tblGrid>
              <a:tr h="658368">
                <a:tc>
                  <a:txBody>
                    <a:bodyPr/>
                    <a:lstStyle/>
                    <a:p>
                      <a:pPr indent="0" marL="0">
                        <a:buNone/>
                      </a:pPr>
                      <a:r>
                        <a:rPr lang="en-US" sz="1200" b="1" dirty="0">
                          <a:solidFill>
                            <a:srgbClr val="0A2239"/>
                          </a:solidFill>
                          <a:latin typeface="Calibri" pitchFamily="34" charset="0"/>
                          <a:ea typeface="Calibri" pitchFamily="34" charset="-122"/>
                          <a:cs typeface="Calibri" pitchFamily="34" charset="-120"/>
                        </a:rPr>
                        <a:t>1  Device &amp; interface</a:t>
                      </a:r>
                      <a:endParaRPr lang="en-US" sz="120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c>
                  <a:txBody>
                    <a:bodyPr/>
                    <a:lstStyle/>
                    <a:p>
                      <a:pPr indent="0" marL="0">
                        <a:buNone/>
                      </a:pPr>
                      <a:r>
                        <a:rPr lang="en-US" sz="1150" dirty="0">
                          <a:solidFill>
                            <a:srgbClr val="1A2733"/>
                          </a:solidFill>
                          <a:latin typeface="Calibri" pitchFamily="34" charset="0"/>
                          <a:ea typeface="Calibri" pitchFamily="34" charset="-122"/>
                          <a:cs typeface="Calibri" pitchFamily="34" charset="-120"/>
                        </a:rPr>
                        <a:t>A generic Vehicle Control Unit over serial-over-IP — deliberately unspecified in the sanitized derivative; the sim carries the whole console until a protocol is captured.</a:t>
                      </a:r>
                      <a:endParaRPr lang="en-US" sz="115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A2239"/>
                          </a:solidFill>
                          <a:latin typeface="Calibri" pitchFamily="34" charset="0"/>
                          <a:ea typeface="Calibri" pitchFamily="34" charset="-122"/>
                          <a:cs typeface="Calibri" pitchFamily="34" charset="-120"/>
                        </a:rPr>
                        <a:t>2  Operational repertoire</a:t>
                      </a:r>
                      <a:endParaRPr lang="en-US" sz="120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c>
                  <a:txBody>
                    <a:bodyPr/>
                    <a:lstStyle/>
                    <a:p>
                      <a:pPr indent="0" marL="0">
                        <a:buNone/>
                      </a:pPr>
                      <a:r>
                        <a:rPr lang="en-US" sz="1150" dirty="0">
                          <a:solidFill>
                            <a:srgbClr val="1A2733"/>
                          </a:solidFill>
                          <a:latin typeface="Calibri" pitchFamily="34" charset="0"/>
                          <a:ea typeface="Calibri" pitchFamily="34" charset="-122"/>
                          <a:cs typeface="Calibri" pitchFamily="34" charset="-120"/>
                        </a:rPr>
                        <a:t>Survey / search / transit planning on live ENC; Go-To, RTH, Hold; E-STOP; AIS traffic; tides and water level; battery and diesel energy models.</a:t>
                      </a:r>
                      <a:endParaRPr lang="en-US" sz="115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A2239"/>
                          </a:solidFill>
                          <a:latin typeface="Calibri" pitchFamily="34" charset="0"/>
                          <a:ea typeface="Calibri" pitchFamily="34" charset="-122"/>
                          <a:cs typeface="Calibri" pitchFamily="34" charset="-120"/>
                        </a:rPr>
                        <a:t>3  Field context</a:t>
                      </a:r>
                      <a:endParaRPr lang="en-US" sz="120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c>
                  <a:txBody>
                    <a:bodyPr/>
                    <a:lstStyle/>
                    <a:p>
                      <a:pPr indent="0" marL="0">
                        <a:buNone/>
                      </a:pPr>
                      <a:r>
                        <a:rPr lang="en-US" sz="1150" dirty="0">
                          <a:solidFill>
                            <a:srgbClr val="1A2733"/>
                          </a:solidFill>
                          <a:latin typeface="Calibri" pitchFamily="34" charset="0"/>
                          <a:ea typeface="Calibri" pitchFamily="34" charset="-122"/>
                          <a:cs typeface="Calibri" pitchFamily="34" charset="-120"/>
                        </a:rPr>
                        <a:t>A ~2 m battery ASV in constrained water; the RC transmitter stays master; vessel profiles change draft, and with it the navigable-depth model.</a:t>
                      </a:r>
                      <a:endParaRPr lang="en-US" sz="115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A2239"/>
                          </a:solidFill>
                          <a:latin typeface="Calibri" pitchFamily="34" charset="0"/>
                          <a:ea typeface="Calibri" pitchFamily="34" charset="-122"/>
                          <a:cs typeface="Calibri" pitchFamily="34" charset="-120"/>
                        </a:rPr>
                        <a:t>4  Safety envelope</a:t>
                      </a:r>
                      <a:endParaRPr lang="en-US" sz="120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c>
                  <a:txBody>
                    <a:bodyPr/>
                    <a:lstStyle/>
                    <a:p>
                      <a:pPr indent="0" marL="0">
                        <a:buNone/>
                      </a:pPr>
                      <a:r>
                        <a:rPr lang="en-US" sz="1150" dirty="0">
                          <a:solidFill>
                            <a:srgbClr val="1A2733"/>
                          </a:solidFill>
                          <a:latin typeface="Calibri" pitchFamily="34" charset="0"/>
                          <a:ea typeface="Calibri" pitchFamily="34" charset="-122"/>
                          <a:cs typeface="Calibri" pitchFamily="34" charset="-120"/>
                        </a:rPr>
                        <a:t>SAFE/arm gating; refusals on the real path (reset, spawn, vessel switch under way); a standing sanitization rule — the sibling console's identity never enters code.</a:t>
                      </a:r>
                      <a:endParaRPr lang="en-US" sz="115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A2239"/>
                          </a:solidFill>
                          <a:latin typeface="Calibri" pitchFamily="34" charset="0"/>
                          <a:ea typeface="Calibri" pitchFamily="34" charset="-122"/>
                          <a:cs typeface="Calibri" pitchFamily="34" charset="-120"/>
                        </a:rPr>
                        <a:t>5  Deferred parameters</a:t>
                      </a:r>
                      <a:endParaRPr lang="en-US" sz="120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c>
                  <a:txBody>
                    <a:bodyPr/>
                    <a:lstStyle/>
                    <a:p>
                      <a:pPr indent="0" marL="0">
                        <a:buNone/>
                      </a:pPr>
                      <a:r>
                        <a:rPr lang="en-US" sz="1150" dirty="0">
                          <a:solidFill>
                            <a:srgbClr val="1A2733"/>
                          </a:solidFill>
                          <a:latin typeface="Calibri" pitchFamily="34" charset="0"/>
                          <a:ea typeface="Calibri" pitchFamily="34" charset="-122"/>
                          <a:cs typeface="Calibri" pitchFamily="34" charset="-120"/>
                        </a:rPr>
                        <a:t>Vessel profiles as data files; the MarineTraffic AIS source held pending account details — “which service, one redacted sample response” before a line is written.</a:t>
                      </a:r>
                      <a:endParaRPr lang="en-US" sz="115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A2239"/>
                          </a:solidFill>
                          <a:latin typeface="Calibri" pitchFamily="34" charset="0"/>
                          <a:ea typeface="Calibri" pitchFamily="34" charset="-122"/>
                          <a:cs typeface="Calibri" pitchFamily="34" charset="-120"/>
                        </a:rPr>
                        <a:t>6  Deliverable</a:t>
                      </a:r>
                      <a:endParaRPr lang="en-US" sz="120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c>
                  <a:txBody>
                    <a:bodyPr/>
                    <a:lstStyle/>
                    <a:p>
                      <a:pPr indent="0" marL="0">
                        <a:buNone/>
                      </a:pPr>
                      <a:r>
                        <a:rPr lang="en-US" sz="1150" dirty="0">
                          <a:solidFill>
                            <a:srgbClr val="1A2733"/>
                          </a:solidFill>
                          <a:latin typeface="Calibri" pitchFamily="34" charset="0"/>
                          <a:ea typeface="Calibri" pitchFamily="34" charset="-122"/>
                          <a:cs typeface="Calibri" pitchFamily="34" charset="-120"/>
                        </a:rPr>
                        <a:t>Single-file server + one page; four generated Word manuals (quick start, operations, technical, development) rebuilt in the same commit as the change they document.</a:t>
                      </a:r>
                      <a:endParaRPr lang="en-US" sz="115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A2239"/>
                          </a:solidFill>
                          <a:latin typeface="Calibri" pitchFamily="34" charset="0"/>
                          <a:ea typeface="Calibri" pitchFamily="34" charset="-122"/>
                          <a:cs typeface="Calibri" pitchFamily="34" charset="-120"/>
                        </a:rPr>
                        <a:t>7  Verification</a:t>
                      </a:r>
                      <a:endParaRPr lang="en-US" sz="120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c>
                  <a:txBody>
                    <a:bodyPr/>
                    <a:lstStyle/>
                    <a:p>
                      <a:pPr indent="0" marL="0">
                        <a:buNone/>
                      </a:pPr>
                      <a:r>
                        <a:rPr lang="en-US" sz="1150" dirty="0">
                          <a:solidFill>
                            <a:srgbClr val="1A2733"/>
                          </a:solidFill>
                          <a:latin typeface="Calibri" pitchFamily="34" charset="0"/>
                          <a:ea typeface="Calibri" pitchFamily="34" charset="-122"/>
                          <a:cs typeface="Calibri" pitchFamily="34" charset="-120"/>
                        </a:rPr>
                        <a:t>99 suites run by the pre-commit hook; suites verified by mutation; live checks against a real browser, real Word, a real server's stderr.</a:t>
                      </a:r>
                      <a:endParaRPr lang="en-US" sz="1150" dirty="0">
                        <a:latin typeface="Calibri" charset="0"/>
                        <a:ea typeface="Calibri" charset="0"/>
                        <a:cs typeface="Calibri" charset="0"/>
                      </a:endParaRPr>
                    </a:p>
                  </a:txBody>
                  <a:tcPr marL="64008" marR="64008" marT="64008" marB="64008" anchor="ctr">
                    <a:lnL w="9525" cap="flat" cmpd="sng" algn="ctr">
                      <a:solidFill>
                        <a:srgbClr val="D5E2EC"/>
                      </a:solidFill>
                      <a:prstDash val="solid"/>
                      <a:round/>
                      <a:headEnd type="none" w="med" len="med"/>
                      <a:tailEnd type="none" w="med" len="med"/>
                    </a:lnL>
                    <a:lnR w="9525" cap="flat" cmpd="sng" algn="ctr">
                      <a:solidFill>
                        <a:srgbClr val="D5E2EC"/>
                      </a:solidFill>
                      <a:prstDash val="solid"/>
                      <a:round/>
                      <a:headEnd type="none" w="med" len="med"/>
                      <a:tailEnd type="none" w="med" len="med"/>
                    </a:lnR>
                    <a:lnT w="9525" cap="flat" cmpd="sng" algn="ctr">
                      <a:solidFill>
                        <a:srgbClr val="D5E2EC"/>
                      </a:solidFill>
                      <a:prstDash val="solid"/>
                      <a:round/>
                      <a:headEnd type="none" w="med" len="med"/>
                      <a:tailEnd type="none" w="med" len="med"/>
                    </a:lnT>
                    <a:lnB w="9525" cap="flat" cmpd="sng" algn="ctr">
                      <a:solidFill>
                        <a:srgbClr val="D5E2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DISCOVERY</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100" b="1" dirty="0">
                <a:solidFill>
                  <a:srgbClr val="0A2239"/>
                </a:solidFill>
                <a:latin typeface="Cambria" pitchFamily="34" charset="0"/>
                <a:ea typeface="Cambria" pitchFamily="34" charset="-122"/>
                <a:cs typeface="Cambria" pitchFamily="34" charset="-120"/>
              </a:rPr>
              <a:t>What no specification could have supplied</a:t>
            </a:r>
            <a:endParaRPr lang="en-US" sz="3100" dirty="0"/>
          </a:p>
        </p:txBody>
      </p:sp>
      <p:sp>
        <p:nvSpPr>
          <p:cNvPr id="4" name="Shape 2"/>
          <p:cNvSpPr/>
          <p:nvPr/>
        </p:nvSpPr>
        <p:spPr>
          <a:xfrm>
            <a:off x="548640" y="1417320"/>
            <a:ext cx="5349240" cy="2331720"/>
          </a:xfrm>
          <a:prstGeom prst="roundRect">
            <a:avLst>
              <a:gd name="adj" fmla="val 3137"/>
            </a:avLst>
          </a:prstGeom>
          <a:solidFill>
            <a:srgbClr val="EAF2F8"/>
          </a:solidFill>
          <a:ln/>
        </p:spPr>
      </p:sp>
      <p:sp>
        <p:nvSpPr>
          <p:cNvPr id="5" name="Shape 3"/>
          <p:cNvSpPr/>
          <p:nvPr/>
        </p:nvSpPr>
        <p:spPr>
          <a:xfrm>
            <a:off x="749808" y="1600200"/>
            <a:ext cx="457200" cy="45720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868680" y="1719072"/>
            <a:ext cx="219456" cy="219456"/>
          </a:xfrm>
          <a:prstGeom prst="rect">
            <a:avLst/>
          </a:prstGeom>
        </p:spPr>
      </p:pic>
      <p:sp>
        <p:nvSpPr>
          <p:cNvPr id="7" name="Text 4"/>
          <p:cNvSpPr/>
          <p:nvPr/>
        </p:nvSpPr>
        <p:spPr>
          <a:xfrm>
            <a:off x="1353312" y="1618488"/>
            <a:ext cx="4389120" cy="411480"/>
          </a:xfrm>
          <a:prstGeom prst="rect">
            <a:avLst/>
          </a:prstGeom>
          <a:noFill/>
          <a:ln/>
        </p:spPr>
        <p:txBody>
          <a:bodyPr wrap="square" lIns="0" tIns="0" rIns="0" bIns="0" rtlCol="0" anchor="ctr"/>
          <a:lstStyle/>
          <a:p>
            <a:pPr indent="0" marL="0">
              <a:buNone/>
            </a:pPr>
            <a:r>
              <a:rPr lang="en-US" sz="1400" b="1" dirty="0">
                <a:solidFill>
                  <a:srgbClr val="0A2239"/>
                </a:solidFill>
                <a:latin typeface="Calibri" pitchFamily="34" charset="0"/>
                <a:ea typeface="Calibri" pitchFamily="34" charset="-122"/>
                <a:cs typeface="Calibri" pitchFamily="34" charset="-120"/>
              </a:rPr>
              <a:t>A quiet sea, or a dead feed?</a:t>
            </a:r>
            <a:endParaRPr lang="en-US" sz="1400" dirty="0"/>
          </a:p>
        </p:txBody>
      </p:sp>
      <p:sp>
        <p:nvSpPr>
          <p:cNvPr id="8" name="Text 5"/>
          <p:cNvSpPr/>
          <p:nvPr/>
        </p:nvSpPr>
        <p:spPr>
          <a:xfrm>
            <a:off x="777240" y="2130552"/>
            <a:ext cx="4937760" cy="1188720"/>
          </a:xfrm>
          <a:prstGeom prst="rect">
            <a:avLst/>
          </a:prstGeom>
          <a:noFill/>
          <a:ln/>
        </p:spPr>
        <p:txBody>
          <a:bodyPr wrap="square" lIns="0" tIns="0" rIns="0" bIns="0" rtlCol="0" anchor="t"/>
          <a:lstStyle/>
          <a:p>
            <a:pPr indent="0" marL="0">
              <a:buNone/>
            </a:pPr>
            <a:r>
              <a:rPr lang="en-US" sz="1050" dirty="0">
                <a:solidFill>
                  <a:srgbClr val="1A2733"/>
                </a:solidFill>
                <a:latin typeface="Calibri" pitchFamily="34" charset="0"/>
                <a:ea typeface="Calibri" pitchFamily="34" charset="-122"/>
                <a:cs typeface="Calibri" pitchFamily="34" charset="-120"/>
              </a:rPr>
              <a:t>“No vessels to 81 nm seems strange.” Measured against the live subscription: 94 vessels tracked, nearest 44 nm — aisstream simply has no volunteer receiver near Lewes. The config was correct; and the investigation exposed a real bug: upstream error frames were swallowed, so a dead key rendered as a quiet sea, forever.</a:t>
            </a:r>
            <a:endParaRPr lang="en-US" sz="1050" dirty="0"/>
          </a:p>
        </p:txBody>
      </p:sp>
      <p:sp>
        <p:nvSpPr>
          <p:cNvPr id="9" name="Text 6"/>
          <p:cNvSpPr/>
          <p:nvPr/>
        </p:nvSpPr>
        <p:spPr>
          <a:xfrm>
            <a:off x="777240" y="3319272"/>
            <a:ext cx="4937760" cy="384048"/>
          </a:xfrm>
          <a:prstGeom prst="rect">
            <a:avLst/>
          </a:prstGeom>
          <a:noFill/>
          <a:ln/>
        </p:spPr>
        <p:txBody>
          <a:bodyPr wrap="square" lIns="0" tIns="0" rIns="0" bIns="0" rtlCol="0" anchor="ctr"/>
          <a:lstStyle/>
          <a:p>
            <a:pPr indent="0" marL="0">
              <a:buNone/>
            </a:pPr>
            <a:r>
              <a:rPr lang="en-US" sz="1050" i="1" dirty="0">
                <a:solidFill>
                  <a:srgbClr val="065A82"/>
                </a:solidFill>
                <a:latin typeface="Calibri" pitchFamily="34" charset="0"/>
                <a:ea typeface="Calibri" pitchFamily="34" charset="-122"/>
                <a:cs typeface="Calibri" pitchFamily="34" charset="-120"/>
              </a:rPr>
              <a:t>A healthy display and a healthy system are different claims.</a:t>
            </a:r>
            <a:endParaRPr lang="en-US" sz="1050" dirty="0"/>
          </a:p>
        </p:txBody>
      </p:sp>
      <p:sp>
        <p:nvSpPr>
          <p:cNvPr id="10" name="Shape 7"/>
          <p:cNvSpPr/>
          <p:nvPr/>
        </p:nvSpPr>
        <p:spPr>
          <a:xfrm>
            <a:off x="6263640" y="1417320"/>
            <a:ext cx="5349240" cy="2331720"/>
          </a:xfrm>
          <a:prstGeom prst="roundRect">
            <a:avLst>
              <a:gd name="adj" fmla="val 3137"/>
            </a:avLst>
          </a:prstGeom>
          <a:solidFill>
            <a:srgbClr val="EAF2F8"/>
          </a:solidFill>
          <a:ln/>
        </p:spPr>
      </p:sp>
      <p:sp>
        <p:nvSpPr>
          <p:cNvPr id="11" name="Shape 8"/>
          <p:cNvSpPr/>
          <p:nvPr/>
        </p:nvSpPr>
        <p:spPr>
          <a:xfrm>
            <a:off x="6464808" y="1600200"/>
            <a:ext cx="457200" cy="457200"/>
          </a:xfrm>
          <a:prstGeom prst="ellipse">
            <a:avLst/>
          </a:prstGeom>
          <a:solidFill>
            <a:srgbClr val="065A82"/>
          </a:solidFill>
          <a:ln/>
        </p:spPr>
      </p:sp>
      <p:pic>
        <p:nvPicPr>
          <p:cNvPr id="12" name="Image 1" descr="preencoded.png">    </p:cNvPr>
          <p:cNvPicPr>
            <a:picLocks noChangeAspect="1"/>
          </p:cNvPicPr>
          <p:nvPr/>
        </p:nvPicPr>
        <p:blipFill>
          <a:blip r:embed="rId2"/>
          <a:stretch>
            <a:fillRect/>
          </a:stretch>
        </p:blipFill>
        <p:spPr>
          <a:xfrm>
            <a:off x="6583680" y="1719072"/>
            <a:ext cx="219456" cy="219456"/>
          </a:xfrm>
          <a:prstGeom prst="rect">
            <a:avLst/>
          </a:prstGeom>
        </p:spPr>
      </p:pic>
      <p:sp>
        <p:nvSpPr>
          <p:cNvPr id="13" name="Text 9"/>
          <p:cNvSpPr/>
          <p:nvPr/>
        </p:nvSpPr>
        <p:spPr>
          <a:xfrm>
            <a:off x="7068312" y="1618488"/>
            <a:ext cx="4389120" cy="411480"/>
          </a:xfrm>
          <a:prstGeom prst="rect">
            <a:avLst/>
          </a:prstGeom>
          <a:noFill/>
          <a:ln/>
        </p:spPr>
        <p:txBody>
          <a:bodyPr wrap="square" lIns="0" tIns="0" rIns="0" bIns="0" rtlCol="0" anchor="ctr"/>
          <a:lstStyle/>
          <a:p>
            <a:pPr indent="0" marL="0">
              <a:buNone/>
            </a:pPr>
            <a:r>
              <a:rPr lang="en-US" sz="1400" b="1" dirty="0">
                <a:solidFill>
                  <a:srgbClr val="0A2239"/>
                </a:solidFill>
                <a:latin typeface="Calibri" pitchFamily="34" charset="0"/>
                <a:ea typeface="Calibri" pitchFamily="34" charset="-122"/>
                <a:cs typeface="Calibri" pitchFamily="34" charset="-120"/>
              </a:rPr>
              <a:t>The manuals that never opened</a:t>
            </a:r>
            <a:endParaRPr lang="en-US" sz="1400" dirty="0"/>
          </a:p>
        </p:txBody>
      </p:sp>
      <p:sp>
        <p:nvSpPr>
          <p:cNvPr id="14" name="Text 10"/>
          <p:cNvSpPr/>
          <p:nvPr/>
        </p:nvSpPr>
        <p:spPr>
          <a:xfrm>
            <a:off x="6492240" y="2130552"/>
            <a:ext cx="4937760" cy="1188720"/>
          </a:xfrm>
          <a:prstGeom prst="rect">
            <a:avLst/>
          </a:prstGeom>
          <a:noFill/>
          <a:ln/>
        </p:spPr>
        <p:txBody>
          <a:bodyPr wrap="square" lIns="0" tIns="0" rIns="0" bIns="0" rtlCol="0" anchor="t"/>
          <a:lstStyle/>
          <a:p>
            <a:pPr indent="0" marL="0">
              <a:buNone/>
            </a:pPr>
            <a:r>
              <a:rPr lang="en-US" sz="1050" dirty="0">
                <a:solidFill>
                  <a:srgbClr val="1A2733"/>
                </a:solidFill>
                <a:latin typeface="Calibri" pitchFamily="34" charset="0"/>
                <a:ea typeface="Calibri" pitchFamily="34" charset="-122"/>
                <a:cs typeface="Calibri" pitchFamily="34" charset="-120"/>
              </a:rPr>
              <a:t>Four generated Word documents were malformed from the day they were built — for 18 commits. Rebuilds were byte-identical, and that stability was repeatedly reported as safety. Real Word refused all four.</a:t>
            </a:r>
            <a:endParaRPr lang="en-US" sz="1050" dirty="0"/>
          </a:p>
        </p:txBody>
      </p:sp>
      <p:sp>
        <p:nvSpPr>
          <p:cNvPr id="15" name="Text 11"/>
          <p:cNvSpPr/>
          <p:nvPr/>
        </p:nvSpPr>
        <p:spPr>
          <a:xfrm>
            <a:off x="6492240" y="3319272"/>
            <a:ext cx="4937760" cy="384048"/>
          </a:xfrm>
          <a:prstGeom prst="rect">
            <a:avLst/>
          </a:prstGeom>
          <a:noFill/>
          <a:ln/>
        </p:spPr>
        <p:txBody>
          <a:bodyPr wrap="square" lIns="0" tIns="0" rIns="0" bIns="0" rtlCol="0" anchor="ctr"/>
          <a:lstStyle/>
          <a:p>
            <a:pPr indent="0" marL="0">
              <a:buNone/>
            </a:pPr>
            <a:r>
              <a:rPr lang="en-US" sz="1050" i="1" dirty="0">
                <a:solidFill>
                  <a:srgbClr val="065A82"/>
                </a:solidFill>
                <a:latin typeface="Calibri" pitchFamily="34" charset="0"/>
                <a:ea typeface="Calibri" pitchFamily="34" charset="-122"/>
                <a:cs typeface="Calibri" pitchFamily="34" charset="-120"/>
              </a:rPr>
              <a:t>A hash proves stability, never correctness — compare against a reader entitled to refuse the file.</a:t>
            </a:r>
            <a:endParaRPr lang="en-US" sz="1050" dirty="0"/>
          </a:p>
        </p:txBody>
      </p:sp>
      <p:sp>
        <p:nvSpPr>
          <p:cNvPr id="16" name="Shape 12"/>
          <p:cNvSpPr/>
          <p:nvPr/>
        </p:nvSpPr>
        <p:spPr>
          <a:xfrm>
            <a:off x="548640" y="3931920"/>
            <a:ext cx="5349240" cy="2331720"/>
          </a:xfrm>
          <a:prstGeom prst="roundRect">
            <a:avLst>
              <a:gd name="adj" fmla="val 3137"/>
            </a:avLst>
          </a:prstGeom>
          <a:solidFill>
            <a:srgbClr val="EAF2F8"/>
          </a:solidFill>
          <a:ln/>
        </p:spPr>
      </p:sp>
      <p:sp>
        <p:nvSpPr>
          <p:cNvPr id="17" name="Shape 13"/>
          <p:cNvSpPr/>
          <p:nvPr/>
        </p:nvSpPr>
        <p:spPr>
          <a:xfrm>
            <a:off x="749808" y="4114800"/>
            <a:ext cx="457200" cy="457200"/>
          </a:xfrm>
          <a:prstGeom prst="ellipse">
            <a:avLst/>
          </a:prstGeom>
          <a:solidFill>
            <a:srgbClr val="065A82"/>
          </a:solidFill>
          <a:ln/>
        </p:spPr>
      </p:sp>
      <p:pic>
        <p:nvPicPr>
          <p:cNvPr id="18" name="Image 2" descr="preencoded.png">    </p:cNvPr>
          <p:cNvPicPr>
            <a:picLocks noChangeAspect="1"/>
          </p:cNvPicPr>
          <p:nvPr/>
        </p:nvPicPr>
        <p:blipFill>
          <a:blip r:embed="rId3"/>
          <a:stretch>
            <a:fillRect/>
          </a:stretch>
        </p:blipFill>
        <p:spPr>
          <a:xfrm>
            <a:off x="868680" y="4233672"/>
            <a:ext cx="219456" cy="219456"/>
          </a:xfrm>
          <a:prstGeom prst="rect">
            <a:avLst/>
          </a:prstGeom>
        </p:spPr>
      </p:pic>
      <p:sp>
        <p:nvSpPr>
          <p:cNvPr id="19" name="Text 14"/>
          <p:cNvSpPr/>
          <p:nvPr/>
        </p:nvSpPr>
        <p:spPr>
          <a:xfrm>
            <a:off x="1353312" y="4133088"/>
            <a:ext cx="4389120" cy="411480"/>
          </a:xfrm>
          <a:prstGeom prst="rect">
            <a:avLst/>
          </a:prstGeom>
          <a:noFill/>
          <a:ln/>
        </p:spPr>
        <p:txBody>
          <a:bodyPr wrap="square" lIns="0" tIns="0" rIns="0" bIns="0" rtlCol="0" anchor="ctr"/>
          <a:lstStyle/>
          <a:p>
            <a:pPr indent="0" marL="0">
              <a:buNone/>
            </a:pPr>
            <a:r>
              <a:rPr lang="en-US" sz="1400" b="1" dirty="0">
                <a:solidFill>
                  <a:srgbClr val="0A2239"/>
                </a:solidFill>
                <a:latin typeface="Calibri" pitchFamily="34" charset="0"/>
                <a:ea typeface="Calibri" pitchFamily="34" charset="-122"/>
                <a:cs typeface="Calibri" pitchFamily="34" charset="-120"/>
              </a:rPr>
              <a:t>The green suite over a crashing server</a:t>
            </a:r>
            <a:endParaRPr lang="en-US" sz="1400" dirty="0"/>
          </a:p>
        </p:txBody>
      </p:sp>
      <p:sp>
        <p:nvSpPr>
          <p:cNvPr id="20" name="Text 15"/>
          <p:cNvSpPr/>
          <p:nvPr/>
        </p:nvSpPr>
        <p:spPr>
          <a:xfrm>
            <a:off x="777240" y="4645152"/>
            <a:ext cx="4937760" cy="1188720"/>
          </a:xfrm>
          <a:prstGeom prst="rect">
            <a:avLst/>
          </a:prstGeom>
          <a:noFill/>
          <a:ln/>
        </p:spPr>
        <p:txBody>
          <a:bodyPr wrap="square" lIns="0" tIns="0" rIns="0" bIns="0" rtlCol="0" anchor="t"/>
          <a:lstStyle/>
          <a:p>
            <a:pPr indent="0" marL="0">
              <a:buNone/>
            </a:pPr>
            <a:r>
              <a:rPr lang="en-US" sz="1050" dirty="0">
                <a:solidFill>
                  <a:srgbClr val="1A2733"/>
                </a:solidFill>
                <a:latin typeface="Calibri" pitchFamily="34" charset="0"/>
                <a:ea typeface="Calibri" pitchFamily="34" charset="-122"/>
                <a:cs typeface="Calibri" pitchFamily="34" charset="-120"/>
              </a:rPr>
              <a:t>/api/ais/radius answered 200, then raised and killed its thread — after the response left. Client-side assertions stayed green because the harness sent the server's stderr to DEVNULL.</a:t>
            </a:r>
            <a:endParaRPr lang="en-US" sz="1050" dirty="0"/>
          </a:p>
        </p:txBody>
      </p:sp>
      <p:sp>
        <p:nvSpPr>
          <p:cNvPr id="21" name="Text 16"/>
          <p:cNvSpPr/>
          <p:nvPr/>
        </p:nvSpPr>
        <p:spPr>
          <a:xfrm>
            <a:off x="777240" y="5833872"/>
            <a:ext cx="4937760" cy="384048"/>
          </a:xfrm>
          <a:prstGeom prst="rect">
            <a:avLst/>
          </a:prstGeom>
          <a:noFill/>
          <a:ln/>
        </p:spPr>
        <p:txBody>
          <a:bodyPr wrap="square" lIns="0" tIns="0" rIns="0" bIns="0" rtlCol="0" anchor="ctr"/>
          <a:lstStyle/>
          <a:p>
            <a:pPr indent="0" marL="0">
              <a:buNone/>
            </a:pPr>
            <a:r>
              <a:rPr lang="en-US" sz="1050" i="1" dirty="0">
                <a:solidFill>
                  <a:srgbClr val="065A82"/>
                </a:solidFill>
                <a:latin typeface="Calibri" pitchFamily="34" charset="0"/>
                <a:ea typeface="Calibri" pitchFamily="34" charset="-122"/>
                <a:cs typeface="Calibri" pitchFamily="34" charset="-120"/>
              </a:rPr>
              <a:t>If a test drives a real process, read that process's output.</a:t>
            </a:r>
            <a:endParaRPr lang="en-US" sz="1050" dirty="0"/>
          </a:p>
        </p:txBody>
      </p:sp>
      <p:sp>
        <p:nvSpPr>
          <p:cNvPr id="22" name="Shape 17"/>
          <p:cNvSpPr/>
          <p:nvPr/>
        </p:nvSpPr>
        <p:spPr>
          <a:xfrm>
            <a:off x="6263640" y="3931920"/>
            <a:ext cx="5349240" cy="2331720"/>
          </a:xfrm>
          <a:prstGeom prst="roundRect">
            <a:avLst>
              <a:gd name="adj" fmla="val 3137"/>
            </a:avLst>
          </a:prstGeom>
          <a:solidFill>
            <a:srgbClr val="EAF2F8"/>
          </a:solidFill>
          <a:ln/>
        </p:spPr>
      </p:sp>
      <p:sp>
        <p:nvSpPr>
          <p:cNvPr id="23" name="Shape 18"/>
          <p:cNvSpPr/>
          <p:nvPr/>
        </p:nvSpPr>
        <p:spPr>
          <a:xfrm>
            <a:off x="6464808" y="4114800"/>
            <a:ext cx="457200" cy="457200"/>
          </a:xfrm>
          <a:prstGeom prst="ellipse">
            <a:avLst/>
          </a:prstGeom>
          <a:solidFill>
            <a:srgbClr val="065A82"/>
          </a:solidFill>
          <a:ln/>
        </p:spPr>
      </p:sp>
      <p:pic>
        <p:nvPicPr>
          <p:cNvPr id="24" name="Image 3" descr="preencoded.png">    </p:cNvPr>
          <p:cNvPicPr>
            <a:picLocks noChangeAspect="1"/>
          </p:cNvPicPr>
          <p:nvPr/>
        </p:nvPicPr>
        <p:blipFill>
          <a:blip r:embed="rId4"/>
          <a:stretch>
            <a:fillRect/>
          </a:stretch>
        </p:blipFill>
        <p:spPr>
          <a:xfrm>
            <a:off x="6583680" y="4233672"/>
            <a:ext cx="219456" cy="219456"/>
          </a:xfrm>
          <a:prstGeom prst="rect">
            <a:avLst/>
          </a:prstGeom>
        </p:spPr>
      </p:pic>
      <p:sp>
        <p:nvSpPr>
          <p:cNvPr id="25" name="Text 19"/>
          <p:cNvSpPr/>
          <p:nvPr/>
        </p:nvSpPr>
        <p:spPr>
          <a:xfrm>
            <a:off x="7068312" y="4133088"/>
            <a:ext cx="4389120" cy="411480"/>
          </a:xfrm>
          <a:prstGeom prst="rect">
            <a:avLst/>
          </a:prstGeom>
          <a:noFill/>
          <a:ln/>
        </p:spPr>
        <p:txBody>
          <a:bodyPr wrap="square" lIns="0" tIns="0" rIns="0" bIns="0" rtlCol="0" anchor="ctr"/>
          <a:lstStyle/>
          <a:p>
            <a:pPr indent="0" marL="0">
              <a:buNone/>
            </a:pPr>
            <a:r>
              <a:rPr lang="en-US" sz="1400" b="1" dirty="0">
                <a:solidFill>
                  <a:srgbClr val="0A2239"/>
                </a:solidFill>
                <a:latin typeface="Calibri" pitchFamily="34" charset="0"/>
                <a:ea typeface="Calibri" pitchFamily="34" charset="-122"/>
                <a:cs typeface="Calibri" pitchFamily="34" charset="-120"/>
              </a:rPr>
              <a:t>Checksum-valid garbage</a:t>
            </a:r>
            <a:endParaRPr lang="en-US" sz="1400" dirty="0"/>
          </a:p>
        </p:txBody>
      </p:sp>
      <p:sp>
        <p:nvSpPr>
          <p:cNvPr id="26" name="Text 20"/>
          <p:cNvSpPr/>
          <p:nvPr/>
        </p:nvSpPr>
        <p:spPr>
          <a:xfrm>
            <a:off x="6492240" y="4645152"/>
            <a:ext cx="4937760" cy="1188720"/>
          </a:xfrm>
          <a:prstGeom prst="rect">
            <a:avLst/>
          </a:prstGeom>
          <a:noFill/>
          <a:ln/>
        </p:spPr>
        <p:txBody>
          <a:bodyPr wrap="square" lIns="0" tIns="0" rIns="0" bIns="0" rtlCol="0" anchor="t"/>
          <a:lstStyle/>
          <a:p>
            <a:pPr indent="0" marL="0">
              <a:buNone/>
            </a:pPr>
            <a:r>
              <a:rPr lang="en-US" sz="1050" dirty="0">
                <a:solidFill>
                  <a:srgbClr val="1A2733"/>
                </a:solidFill>
                <a:latin typeface="Calibri" pitchFamily="34" charset="0"/>
                <a:ea typeface="Calibri" pitchFamily="34" charset="-122"/>
                <a:cs typeface="Calibri" pitchFamily="34" charset="-120"/>
              </a:rPr>
              <a:t>A checksum can pass on an already-mangled buffer: one bad speed field unwound the GPS read loop and dropped the link (6 of 8 fixes). Fix: malformed fields degrade like empty ones; a guard at the thread boundary limits blast radius.</a:t>
            </a:r>
            <a:endParaRPr lang="en-US" sz="1050" dirty="0"/>
          </a:p>
        </p:txBody>
      </p:sp>
      <p:sp>
        <p:nvSpPr>
          <p:cNvPr id="27" name="Text 21"/>
          <p:cNvSpPr/>
          <p:nvPr/>
        </p:nvSpPr>
        <p:spPr>
          <a:xfrm>
            <a:off x="6492240" y="5833872"/>
            <a:ext cx="4937760" cy="384048"/>
          </a:xfrm>
          <a:prstGeom prst="rect">
            <a:avLst/>
          </a:prstGeom>
          <a:noFill/>
          <a:ln/>
        </p:spPr>
        <p:txBody>
          <a:bodyPr wrap="square" lIns="0" tIns="0" rIns="0" bIns="0" rtlCol="0" anchor="ctr"/>
          <a:lstStyle/>
          <a:p>
            <a:pPr indent="0" marL="0">
              <a:buNone/>
            </a:pPr>
            <a:r>
              <a:rPr lang="en-US" sz="1050" i="1" dirty="0">
                <a:solidFill>
                  <a:srgbClr val="065A82"/>
                </a:solidFill>
                <a:latin typeface="Calibri" pitchFamily="34" charset="0"/>
                <a:ea typeface="Calibri" pitchFamily="34" charset="-122"/>
                <a:cs typeface="Calibri" pitchFamily="34" charset="-120"/>
              </a:rPr>
              <a:t>A valid frame is not a true frame — the Starlink lesson, on our own wire.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SLOT 7, INDUSTRIALIZED</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100" b="1" dirty="0">
                <a:solidFill>
                  <a:srgbClr val="0A2239"/>
                </a:solidFill>
                <a:latin typeface="Cambria" pitchFamily="34" charset="0"/>
                <a:ea typeface="Cambria" pitchFamily="34" charset="-122"/>
                <a:cs typeface="Cambria" pitchFamily="34" charset="-120"/>
              </a:rPr>
              <a:t>Verification with teeth</a:t>
            </a:r>
            <a:endParaRPr lang="en-US" sz="3100" dirty="0"/>
          </a:p>
        </p:txBody>
      </p:sp>
      <p:sp>
        <p:nvSpPr>
          <p:cNvPr id="4" name="Shape 2"/>
          <p:cNvSpPr/>
          <p:nvPr/>
        </p:nvSpPr>
        <p:spPr>
          <a:xfrm>
            <a:off x="548640" y="1463040"/>
            <a:ext cx="4937760" cy="3657600"/>
          </a:xfrm>
          <a:prstGeom prst="roundRect">
            <a:avLst>
              <a:gd name="adj" fmla="val 2000"/>
            </a:avLst>
          </a:prstGeom>
          <a:solidFill>
            <a:srgbClr val="0A2239"/>
          </a:solidFill>
          <a:ln/>
        </p:spPr>
      </p:sp>
      <p:sp>
        <p:nvSpPr>
          <p:cNvPr id="5" name="Text 3"/>
          <p:cNvSpPr/>
          <p:nvPr/>
        </p:nvSpPr>
        <p:spPr>
          <a:xfrm>
            <a:off x="868680" y="1828800"/>
            <a:ext cx="4297680" cy="128016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“Verify against something entitled to refuse you.”</a:t>
            </a:r>
            <a:endParaRPr lang="en-US" sz="2400" dirty="0"/>
          </a:p>
        </p:txBody>
      </p:sp>
      <p:sp>
        <p:nvSpPr>
          <p:cNvPr id="6" name="Text 4"/>
          <p:cNvSpPr/>
          <p:nvPr/>
        </p:nvSpPr>
        <p:spPr>
          <a:xfrm>
            <a:off x="868680" y="3200400"/>
            <a:ext cx="4297680" cy="1463040"/>
          </a:xfrm>
          <a:prstGeom prst="rect">
            <a:avLst/>
          </a:prstGeom>
          <a:noFill/>
          <a:ln/>
        </p:spPr>
        <p:txBody>
          <a:bodyPr wrap="square" lIns="0" tIns="0" rIns="0" bIns="0" rtlCol="0" anchor="ctr"/>
          <a:lstStyle/>
          <a:p>
            <a:pPr indent="0" marL="0">
              <a:buNone/>
            </a:pPr>
            <a:r>
              <a:rPr lang="en-US" sz="1400" dirty="0">
                <a:solidFill>
                  <a:srgbClr val="C9D9E8"/>
                </a:solidFill>
                <a:latin typeface="Calibri" pitchFamily="34" charset="0"/>
                <a:ea typeface="Calibri" pitchFamily="34" charset="-122"/>
                <a:cs typeface="Calibri" pitchFamily="34" charset="-120"/>
              </a:rPr>
              <a:t>Not the previous output. Not a byte-identical hash. A reader, a real Word, a real browser's pixels, the server's own stderr.</a:t>
            </a:r>
            <a:endParaRPr lang="en-US" sz="1400" dirty="0"/>
          </a:p>
        </p:txBody>
      </p:sp>
      <p:sp>
        <p:nvSpPr>
          <p:cNvPr id="7" name="Shape 5"/>
          <p:cNvSpPr/>
          <p:nvPr/>
        </p:nvSpPr>
        <p:spPr>
          <a:xfrm>
            <a:off x="5897880" y="1517904"/>
            <a:ext cx="457200" cy="457200"/>
          </a:xfrm>
          <a:prstGeom prst="ellipse">
            <a:avLst/>
          </a:prstGeom>
          <a:solidFill>
            <a:srgbClr val="1C7293"/>
          </a:solidFill>
          <a:ln/>
        </p:spPr>
      </p:sp>
      <p:pic>
        <p:nvPicPr>
          <p:cNvPr id="8" name="Image 0" descr="preencoded.png">    </p:cNvPr>
          <p:cNvPicPr>
            <a:picLocks noChangeAspect="1"/>
          </p:cNvPicPr>
          <p:nvPr/>
        </p:nvPicPr>
        <p:blipFill>
          <a:blip r:embed="rId1"/>
          <a:stretch>
            <a:fillRect/>
          </a:stretch>
        </p:blipFill>
        <p:spPr>
          <a:xfrm>
            <a:off x="6016752" y="1636776"/>
            <a:ext cx="219456" cy="219456"/>
          </a:xfrm>
          <a:prstGeom prst="rect">
            <a:avLst/>
          </a:prstGeom>
        </p:spPr>
      </p:pic>
      <p:sp>
        <p:nvSpPr>
          <p:cNvPr id="9" name="Text 6"/>
          <p:cNvSpPr/>
          <p:nvPr/>
        </p:nvSpPr>
        <p:spPr>
          <a:xfrm>
            <a:off x="6492240" y="1463040"/>
            <a:ext cx="5120640" cy="292608"/>
          </a:xfrm>
          <a:prstGeom prst="rect">
            <a:avLst/>
          </a:prstGeom>
          <a:noFill/>
          <a:ln/>
        </p:spPr>
        <p:txBody>
          <a:bodyPr wrap="square" lIns="0" tIns="0" rIns="0" bIns="0" rtlCol="0" anchor="ctr"/>
          <a:lstStyle/>
          <a:p>
            <a:pPr indent="0" marL="0">
              <a:buNone/>
            </a:pPr>
            <a:r>
              <a:rPr lang="en-US" sz="1350" b="1" dirty="0">
                <a:solidFill>
                  <a:srgbClr val="0A2239"/>
                </a:solidFill>
                <a:latin typeface="Calibri" pitchFamily="34" charset="0"/>
                <a:ea typeface="Calibri" pitchFamily="34" charset="-122"/>
                <a:cs typeface="Calibri" pitchFamily="34" charset="-120"/>
              </a:rPr>
              <a:t>Mutation before trust</a:t>
            </a:r>
            <a:endParaRPr lang="en-US" sz="1350" dirty="0"/>
          </a:p>
        </p:txBody>
      </p:sp>
      <p:sp>
        <p:nvSpPr>
          <p:cNvPr id="10" name="Text 7"/>
          <p:cNvSpPr/>
          <p:nvPr/>
        </p:nvSpPr>
        <p:spPr>
          <a:xfrm>
            <a:off x="6492240" y="1755648"/>
            <a:ext cx="5120640" cy="566928"/>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A new suite is believed only after seeded faults fail it — including re-shipping the exact original bug.</a:t>
            </a:r>
            <a:endParaRPr lang="en-US" sz="1100" dirty="0"/>
          </a:p>
        </p:txBody>
      </p:sp>
      <p:sp>
        <p:nvSpPr>
          <p:cNvPr id="11" name="Shape 8"/>
          <p:cNvSpPr/>
          <p:nvPr/>
        </p:nvSpPr>
        <p:spPr>
          <a:xfrm>
            <a:off x="5897880" y="2450592"/>
            <a:ext cx="457200" cy="457200"/>
          </a:xfrm>
          <a:prstGeom prst="ellipse">
            <a:avLst/>
          </a:prstGeom>
          <a:solidFill>
            <a:srgbClr val="1C7293"/>
          </a:solidFill>
          <a:ln/>
        </p:spPr>
      </p:sp>
      <p:pic>
        <p:nvPicPr>
          <p:cNvPr id="12" name="Image 1" descr="preencoded.png">    </p:cNvPr>
          <p:cNvPicPr>
            <a:picLocks noChangeAspect="1"/>
          </p:cNvPicPr>
          <p:nvPr/>
        </p:nvPicPr>
        <p:blipFill>
          <a:blip r:embed="rId2"/>
          <a:stretch>
            <a:fillRect/>
          </a:stretch>
        </p:blipFill>
        <p:spPr>
          <a:xfrm>
            <a:off x="6016752" y="2569464"/>
            <a:ext cx="219456" cy="219456"/>
          </a:xfrm>
          <a:prstGeom prst="rect">
            <a:avLst/>
          </a:prstGeom>
        </p:spPr>
      </p:pic>
      <p:sp>
        <p:nvSpPr>
          <p:cNvPr id="13" name="Text 9"/>
          <p:cNvSpPr/>
          <p:nvPr/>
        </p:nvSpPr>
        <p:spPr>
          <a:xfrm>
            <a:off x="6492240" y="2395728"/>
            <a:ext cx="5120640" cy="292608"/>
          </a:xfrm>
          <a:prstGeom prst="rect">
            <a:avLst/>
          </a:prstGeom>
          <a:noFill/>
          <a:ln/>
        </p:spPr>
        <p:txBody>
          <a:bodyPr wrap="square" lIns="0" tIns="0" rIns="0" bIns="0" rtlCol="0" anchor="ctr"/>
          <a:lstStyle/>
          <a:p>
            <a:pPr indent="0" marL="0">
              <a:buNone/>
            </a:pPr>
            <a:r>
              <a:rPr lang="en-US" sz="1350" b="1" dirty="0">
                <a:solidFill>
                  <a:srgbClr val="0A2239"/>
                </a:solidFill>
                <a:latin typeface="Calibri" pitchFamily="34" charset="0"/>
                <a:ea typeface="Calibri" pitchFamily="34" charset="-122"/>
                <a:cs typeface="Calibri" pitchFamily="34" charset="-120"/>
              </a:rPr>
              <a:t>Refusal paired with acceptance</a:t>
            </a:r>
            <a:endParaRPr lang="en-US" sz="1350" dirty="0"/>
          </a:p>
        </p:txBody>
      </p:sp>
      <p:sp>
        <p:nvSpPr>
          <p:cNvPr id="14" name="Text 10"/>
          <p:cNvSpPr/>
          <p:nvPr/>
        </p:nvSpPr>
        <p:spPr>
          <a:xfrm>
            <a:off x="6492240" y="2688336"/>
            <a:ext cx="5120640" cy="566928"/>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Every test that proves the console refuses something also proves it accepts the legal case.</a:t>
            </a:r>
            <a:endParaRPr lang="en-US" sz="1100" dirty="0"/>
          </a:p>
        </p:txBody>
      </p:sp>
      <p:sp>
        <p:nvSpPr>
          <p:cNvPr id="15" name="Shape 11"/>
          <p:cNvSpPr/>
          <p:nvPr/>
        </p:nvSpPr>
        <p:spPr>
          <a:xfrm>
            <a:off x="5897880" y="3383280"/>
            <a:ext cx="457200" cy="457200"/>
          </a:xfrm>
          <a:prstGeom prst="ellipse">
            <a:avLst/>
          </a:prstGeom>
          <a:solidFill>
            <a:srgbClr val="1C7293"/>
          </a:solidFill>
          <a:ln/>
        </p:spPr>
      </p:sp>
      <p:pic>
        <p:nvPicPr>
          <p:cNvPr id="16" name="Image 2" descr="preencoded.png">    </p:cNvPr>
          <p:cNvPicPr>
            <a:picLocks noChangeAspect="1"/>
          </p:cNvPicPr>
          <p:nvPr/>
        </p:nvPicPr>
        <p:blipFill>
          <a:blip r:embed="rId3"/>
          <a:stretch>
            <a:fillRect/>
          </a:stretch>
        </p:blipFill>
        <p:spPr>
          <a:xfrm>
            <a:off x="6016752" y="3502152"/>
            <a:ext cx="219456" cy="219456"/>
          </a:xfrm>
          <a:prstGeom prst="rect">
            <a:avLst/>
          </a:prstGeom>
        </p:spPr>
      </p:pic>
      <p:sp>
        <p:nvSpPr>
          <p:cNvPr id="17" name="Text 12"/>
          <p:cNvSpPr/>
          <p:nvPr/>
        </p:nvSpPr>
        <p:spPr>
          <a:xfrm>
            <a:off x="6492240" y="3328416"/>
            <a:ext cx="5120640" cy="292608"/>
          </a:xfrm>
          <a:prstGeom prst="rect">
            <a:avLst/>
          </a:prstGeom>
          <a:noFill/>
          <a:ln/>
        </p:spPr>
        <p:txBody>
          <a:bodyPr wrap="square" lIns="0" tIns="0" rIns="0" bIns="0" rtlCol="0" anchor="ctr"/>
          <a:lstStyle/>
          <a:p>
            <a:pPr indent="0" marL="0">
              <a:buNone/>
            </a:pPr>
            <a:r>
              <a:rPr lang="en-US" sz="1350" b="1" dirty="0">
                <a:solidFill>
                  <a:srgbClr val="0A2239"/>
                </a:solidFill>
                <a:latin typeface="Calibri" pitchFamily="34" charset="0"/>
                <a:ea typeface="Calibri" pitchFamily="34" charset="-122"/>
                <a:cs typeface="Calibri" pitchFamily="34" charset="-120"/>
              </a:rPr>
              <a:t>Derive, don't enumerate</a:t>
            </a:r>
            <a:endParaRPr lang="en-US" sz="1350" dirty="0"/>
          </a:p>
        </p:txBody>
      </p:sp>
      <p:sp>
        <p:nvSpPr>
          <p:cNvPr id="18" name="Text 13"/>
          <p:cNvSpPr/>
          <p:nvPr/>
        </p:nvSpPr>
        <p:spPr>
          <a:xfrm>
            <a:off x="6492240" y="3621024"/>
            <a:ext cx="5120640" cy="566928"/>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The hook derives its run list from tests/; suites parse endpoint lists out of the source — hand-kept lists beside a directory always drift.</a:t>
            </a:r>
            <a:endParaRPr lang="en-US" sz="1100" dirty="0"/>
          </a:p>
        </p:txBody>
      </p:sp>
      <p:sp>
        <p:nvSpPr>
          <p:cNvPr id="19" name="Shape 14"/>
          <p:cNvSpPr/>
          <p:nvPr/>
        </p:nvSpPr>
        <p:spPr>
          <a:xfrm>
            <a:off x="5897880" y="4315968"/>
            <a:ext cx="457200" cy="457200"/>
          </a:xfrm>
          <a:prstGeom prst="ellipse">
            <a:avLst/>
          </a:prstGeom>
          <a:solidFill>
            <a:srgbClr val="1C7293"/>
          </a:solidFill>
          <a:ln/>
        </p:spPr>
      </p:sp>
      <p:pic>
        <p:nvPicPr>
          <p:cNvPr id="20" name="Image 3" descr="preencoded.png">    </p:cNvPr>
          <p:cNvPicPr>
            <a:picLocks noChangeAspect="1"/>
          </p:cNvPicPr>
          <p:nvPr/>
        </p:nvPicPr>
        <p:blipFill>
          <a:blip r:embed="rId4"/>
          <a:stretch>
            <a:fillRect/>
          </a:stretch>
        </p:blipFill>
        <p:spPr>
          <a:xfrm>
            <a:off x="6016752" y="4434840"/>
            <a:ext cx="219456" cy="219456"/>
          </a:xfrm>
          <a:prstGeom prst="rect">
            <a:avLst/>
          </a:prstGeom>
        </p:spPr>
      </p:pic>
      <p:sp>
        <p:nvSpPr>
          <p:cNvPr id="21" name="Text 15"/>
          <p:cNvSpPr/>
          <p:nvPr/>
        </p:nvSpPr>
        <p:spPr>
          <a:xfrm>
            <a:off x="6492240" y="4261104"/>
            <a:ext cx="5120640" cy="292608"/>
          </a:xfrm>
          <a:prstGeom prst="rect">
            <a:avLst/>
          </a:prstGeom>
          <a:noFill/>
          <a:ln/>
        </p:spPr>
        <p:txBody>
          <a:bodyPr wrap="square" lIns="0" tIns="0" rIns="0" bIns="0" rtlCol="0" anchor="ctr"/>
          <a:lstStyle/>
          <a:p>
            <a:pPr indent="0" marL="0">
              <a:buNone/>
            </a:pPr>
            <a:r>
              <a:rPr lang="en-US" sz="1350" b="1" dirty="0">
                <a:solidFill>
                  <a:srgbClr val="0A2239"/>
                </a:solidFill>
                <a:latin typeface="Calibri" pitchFamily="34" charset="0"/>
                <a:ea typeface="Calibri" pitchFamily="34" charset="-122"/>
                <a:cs typeface="Calibri" pitchFamily="34" charset="-120"/>
              </a:rPr>
              <a:t>Pixels for UI claims</a:t>
            </a:r>
            <a:endParaRPr lang="en-US" sz="1350" dirty="0"/>
          </a:p>
        </p:txBody>
      </p:sp>
      <p:sp>
        <p:nvSpPr>
          <p:cNvPr id="22" name="Text 16"/>
          <p:cNvSpPr/>
          <p:nvPr/>
        </p:nvSpPr>
        <p:spPr>
          <a:xfrm>
            <a:off x="6492240" y="4553712"/>
            <a:ext cx="5120640" cy="566928"/>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A clean diff is not evidence a port works: the survey grip was byte-identical to the sibling's and invisible under the boat marker.</a:t>
            </a:r>
            <a:endParaRPr lang="en-US" sz="1100" dirty="0"/>
          </a:p>
        </p:txBody>
      </p:sp>
      <p:sp>
        <p:nvSpPr>
          <p:cNvPr id="23" name="Text 17"/>
          <p:cNvSpPr/>
          <p:nvPr/>
        </p:nvSpPr>
        <p:spPr>
          <a:xfrm>
            <a:off x="548640" y="5440680"/>
            <a:ext cx="11064240" cy="68580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Outcome of the route-coverage campaign: every route whose failure mode matters has a behavioral suite — and writing those suites found five live defects on the way.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EFFORT ECONOMICS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100" b="1" dirty="0">
                <a:solidFill>
                  <a:srgbClr val="0A2239"/>
                </a:solidFill>
                <a:latin typeface="Cambria" pitchFamily="34" charset="0"/>
                <a:ea typeface="Cambria" pitchFamily="34" charset="-122"/>
                <a:cs typeface="Cambria" pitchFamily="34" charset="-120"/>
              </a:rPr>
              <a:t>Order-of-magnitude compression, honestly bounded</a:t>
            </a:r>
            <a:endParaRPr lang="en-US" sz="3100" dirty="0"/>
          </a:p>
        </p:txBody>
      </p:sp>
      <p:graphicFrame>
        <p:nvGraphicFramePr>
          <p:cNvPr id="4" name="Chart 0" descr=""/>
          <p:cNvGraphicFramePr/>
          <p:nvPr/>
        </p:nvGraphicFramePr>
        <p:xfrm>
          <a:off x="548640" y="155448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498080" y="1554480"/>
            <a:ext cx="4114800" cy="4663440"/>
          </a:xfrm>
          <a:prstGeom prst="rect">
            <a:avLst/>
          </a:prstGeom>
          <a:noFill/>
          <a:ln/>
        </p:spPr>
        <p:txBody>
          <a:bodyPr wrap="square" lIns="0" tIns="0" rIns="0" bIns="0" rtlCol="0" anchor="t"/>
          <a:lstStyle/>
          <a:p>
            <a:pPr indent="0" marL="0">
              <a:spcAft>
                <a:spcPts val="400"/>
              </a:spcAft>
              <a:buNone/>
            </a:pPr>
            <a:r>
              <a:rPr lang="en-US" sz="1400" b="1" dirty="0">
                <a:solidFill>
                  <a:srgbClr val="0A2239"/>
                </a:solidFill>
                <a:latin typeface="Calibri" pitchFamily="34" charset="0"/>
                <a:ea typeface="Calibri" pitchFamily="34" charset="-122"/>
                <a:cs typeface="Calibri" pitchFamily="34" charset="-120"/>
              </a:rPr>
              <a:t>Method</a:t>
            </a:r>
            <a:endParaRPr lang="en-US" sz="1200" dirty="0"/>
          </a:p>
          <a:p>
            <a:pPr indent="0" marL="0">
              <a:spcAft>
                <a:spcPts val="1000"/>
              </a:spcAft>
              <a:buNone/>
            </a:pPr>
            <a:r>
              <a:rPr lang="en-US" sz="1200" dirty="0">
                <a:solidFill>
                  <a:srgbClr val="1A2733"/>
                </a:solidFill>
                <a:latin typeface="Calibri" pitchFamily="34" charset="0"/>
                <a:ea typeface="Calibri" pitchFamily="34" charset="-122"/>
                <a:cs typeface="Calibri" pitchFamily="34" charset="-120"/>
              </a:rPr>
              <a:t>Unaided baselines are three-point (PERT) estimates by component, for a competent professional — a generous comparison, since the director of the work is a non-programmer. AI-coupled figures are bounded from timestamps and rounded up.</a:t>
            </a:r>
            <a:endParaRPr lang="en-US" sz="1200" dirty="0"/>
          </a:p>
          <a:p>
            <a:pPr indent="0" marL="0">
              <a:spcAft>
                <a:spcPts val="400"/>
              </a:spcAft>
              <a:buNone/>
            </a:pPr>
            <a:r>
              <a:rPr lang="en-US" sz="1400" b="1" dirty="0">
                <a:solidFill>
                  <a:srgbClr val="0A2239"/>
                </a:solidFill>
                <a:latin typeface="Calibri" pitchFamily="34" charset="0"/>
                <a:ea typeface="Calibri" pitchFamily="34" charset="-122"/>
                <a:cs typeface="Calibri" pitchFamily="34" charset="-120"/>
              </a:rPr>
              <a:t>The sharper comparison</a:t>
            </a:r>
            <a:endParaRPr lang="en-US" sz="1200" dirty="0"/>
          </a:p>
          <a:p>
            <a:pPr indent="0" marL="0">
              <a:spcAft>
                <a:spcPts val="1000"/>
              </a:spcAft>
              <a:buNone/>
            </a:pPr>
            <a:r>
              <a:rPr lang="en-US" sz="1200" dirty="0">
                <a:solidFill>
                  <a:srgbClr val="1A2733"/>
                </a:solidFill>
                <a:latin typeface="Calibri" pitchFamily="34" charset="0"/>
                <a:ea typeface="Calibri" pitchFamily="34" charset="-122"/>
                <a:cs typeface="Calibri" pitchFamily="34" charset="-120"/>
              </a:rPr>
              <a:t>For a non-programmer the unaided build does not start at 30–40 hours — it starts with acquiring gRPC, decompilation, orbital mechanics, threading. The honest outcome is “a working tool versus none.”</a:t>
            </a:r>
            <a:endParaRPr lang="en-US" sz="1200" dirty="0"/>
          </a:p>
          <a:p>
            <a:pPr indent="0" marL="0">
              <a:spcAft>
                <a:spcPts val="400"/>
              </a:spcAft>
              <a:buNone/>
            </a:pPr>
            <a:r>
              <a:rPr lang="en-US" sz="1400" b="1" dirty="0">
                <a:solidFill>
                  <a:srgbClr val="0A2239"/>
                </a:solidFill>
                <a:latin typeface="Calibri" pitchFamily="34" charset="0"/>
                <a:ea typeface="Calibri" pitchFamily="34" charset="-122"/>
                <a:cs typeface="Calibri" pitchFamily="34" charset="-120"/>
              </a:rPr>
              <a:t>This project</a:t>
            </a:r>
            <a:endParaRPr lang="en-US" sz="1200" dirty="0"/>
          </a:p>
          <a:p>
            <a:pPr indent="0" marL="0">
              <a:buNone/>
            </a:pPr>
            <a:r>
              <a:rPr lang="en-US" sz="1200" dirty="0">
                <a:solidFill>
                  <a:srgbClr val="1A2733"/>
                </a:solidFill>
                <a:latin typeface="Calibri" pitchFamily="34" charset="0"/>
                <a:ea typeface="Calibri" pitchFamily="34" charset="-122"/>
                <a:cs typeface="Calibri" pitchFamily="34" charset="-120"/>
              </a:rPr>
              <a:t>Estimated by the same method (component table, next slide): ≈200 person-hours unaided vs ≈30 measured from the commit record — a smaller multiple (≈7×) than the small tools, exactly as the series' own scaling caveat predicts.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EFFORT ECONOMICS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100" b="1" dirty="0">
                <a:solidFill>
                  <a:srgbClr val="0A2239"/>
                </a:solidFill>
                <a:latin typeface="Cambria" pitchFamily="34" charset="0"/>
                <a:ea typeface="Cambria" pitchFamily="34" charset="-122"/>
                <a:cs typeface="Cambria" pitchFamily="34" charset="-120"/>
              </a:rPr>
              <a:t>The same method, applied to this project</a:t>
            </a:r>
            <a:endParaRPr lang="en-US" sz="3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229600" cy="914400"/>
        </p:xfrm>
        <a:graphic>
          <a:graphicData uri="http://schemas.openxmlformats.org/drawingml/2006/table">
            <a:tbl>
              <a:tblPr/>
              <a:tblGrid>
                <a:gridCol w="5943600"/>
                <a:gridCol w="457200"/>
                <a:gridCol w="457200"/>
                <a:gridCol w="457200"/>
                <a:gridCol w="457200"/>
                <a:gridCol w="45720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Work component</a:t>
                      </a:r>
                      <a:endParaRPr lang="en-US" sz="105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065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065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065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065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tₑ</a:t>
                      </a:r>
                      <a:endParaRPr lang="en-US" sz="105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065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σ</a:t>
                      </a:r>
                      <a:endParaRPr lang="en-US" sz="105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065A82"/>
                    </a:solidFill>
                  </a:tcPr>
                </a:tc>
              </a:tr>
              <a:tr h="0">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ENC chart integration &amp; nogo model (tiles, feature extraction, depth gating, offline prep)</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32.0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17.3</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r>
              <a:tr h="0">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Route planning (A* raster, hazard extents, Rule 9 channel lane, turn geometry, survey/search patterns)</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21.7</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Vessel simulator (hull physics, autopilot, battery &amp; diesel energy, live-weather environment)</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17.0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r>
              <a:tr h="0">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Command &amp; safety model (VCU seam, arm/SAFE/E-STOP gating, run lifecycle, honest refusals)</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24.0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13.0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Shore-station UI (chart + controls windows, draggable/resizable cards, survey editor, readouts)</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70.0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41.7</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8.3</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r>
              <a:tr h="0">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AIS subsystem (websocket service, registry, range filtering, error surfacing, patched table)</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24.0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13.0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Ancillary services (tides &amp; water-level trust, GPS sim, ROC / moving HOME, recorder + playback)</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22.0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12.7</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2.7</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r>
              <a:tr h="0">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Test infrastructure (99 suites, mutation verification, real-console harnesses, hook)</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60.0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32.5</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Documentation pipeline (docx generator, four manuals, three READMEs)</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EAF2F8"/>
                    </a:solidFill>
                  </a:tcPr>
                </a:tc>
              </a:tr>
              <a:tr h="0">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Hardening &amp; defect discovery (route audits, dropped-connection family, live cross-checks)</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733"/>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A2239"/>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5F0E6"/>
                    </a:solidFill>
                  </a:tcPr>
                </a:tc>
                <a:tc>
                  <a:txBody>
                    <a:bodyPr/>
                    <a:lstStyle/>
                    <a:p>
                      <a:pPr indent="0" marL="0">
                        <a:buNone/>
                      </a:pPr>
                      <a:endParaRPr lang="en-US" sz="1200" dirty="0"/>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5F0E6"/>
                    </a:solidFill>
                  </a:tcPr>
                </a:tc>
                <a:tc>
                  <a:txBody>
                    <a:bodyPr/>
                    <a:lstStyle/>
                    <a:p>
                      <a:pPr indent="0" marL="0">
                        <a:buNone/>
                      </a:pPr>
                      <a:endParaRPr lang="en-US" sz="1200" dirty="0"/>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5F0E6"/>
                    </a:solidFill>
                  </a:tcPr>
                </a:tc>
                <a:tc>
                  <a:txBody>
                    <a:bodyPr/>
                    <a:lstStyle/>
                    <a:p>
                      <a:pPr indent="0" marL="0">
                        <a:buNone/>
                      </a:pPr>
                      <a:endParaRPr lang="en-US" sz="1200" dirty="0"/>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5F0E6"/>
                    </a:solidFill>
                  </a:tcPr>
                </a:tc>
                <a:tc>
                  <a:txBody>
                    <a:bodyPr/>
                    <a:lstStyle/>
                    <a:p>
                      <a:pPr algn="ctr" indent="0" marL="0">
                        <a:buNone/>
                      </a:pPr>
                      <a:r>
                        <a:rPr lang="en-US" sz="1050" b="1" dirty="0">
                          <a:solidFill>
                            <a:srgbClr val="0A2239"/>
                          </a:solidFill>
                          <a:latin typeface="Calibri" pitchFamily="34" charset="0"/>
                          <a:ea typeface="Calibri" pitchFamily="34" charset="-122"/>
                          <a:cs typeface="Calibri" pitchFamily="34" charset="-120"/>
                        </a:rPr>
                        <a:t>199.8</a:t>
                      </a:r>
                      <a:endParaRPr lang="en-US" sz="105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5F0E6"/>
                    </a:solidFill>
                  </a:tcPr>
                </a:tc>
                <a:tc>
                  <a:txBody>
                    <a:bodyPr/>
                    <a:lstStyle/>
                    <a:p>
                      <a:pPr algn="ctr" indent="0" marL="0">
                        <a:buNone/>
                      </a:pPr>
                      <a:r>
                        <a:rPr lang="en-US" sz="1050" b="1" dirty="0">
                          <a:solidFill>
                            <a:srgbClr val="0A2239"/>
                          </a:solidFill>
                          <a:latin typeface="Calibri" pitchFamily="34" charset="0"/>
                          <a:ea typeface="Calibri" pitchFamily="34" charset="-122"/>
                          <a:cs typeface="Calibri" pitchFamily="34" charset="-120"/>
                        </a:rPr>
                        <a:t>15.2</a:t>
                      </a:r>
                      <a:endParaRPr lang="en-US" sz="1050" dirty="0">
                        <a:latin typeface="Calibri" charset="0"/>
                        <a:ea typeface="Calibri" charset="0"/>
                        <a:cs typeface="Calibri" charset="0"/>
                      </a:endParaRPr>
                    </a:p>
                  </a:txBody>
                  <a:tcPr marL="36576" marR="36576" marT="36576" marB="36576" anchor="ctr">
                    <a:lnL w="6350" cap="flat" cmpd="sng" algn="ctr">
                      <a:solidFill>
                        <a:srgbClr val="D5E2EC"/>
                      </a:solidFill>
                      <a:prstDash val="solid"/>
                      <a:round/>
                      <a:headEnd type="none" w="med" len="med"/>
                      <a:tailEnd type="none" w="med" len="med"/>
                    </a:lnL>
                    <a:lnR w="6350" cap="flat" cmpd="sng" algn="ctr">
                      <a:solidFill>
                        <a:srgbClr val="D5E2EC"/>
                      </a:solidFill>
                      <a:prstDash val="solid"/>
                      <a:round/>
                      <a:headEnd type="none" w="med" len="med"/>
                      <a:tailEnd type="none" w="med" len="med"/>
                    </a:lnR>
                    <a:lnT w="6350" cap="flat" cmpd="sng" algn="ctr">
                      <a:solidFill>
                        <a:srgbClr val="D5E2EC"/>
                      </a:solidFill>
                      <a:prstDash val="solid"/>
                      <a:round/>
                      <a:headEnd type="none" w="med" len="med"/>
                      <a:tailEnd type="none" w="med" len="med"/>
                    </a:lnT>
                    <a:lnB w="6350" cap="flat" cmpd="sng" algn="ctr">
                      <a:solidFill>
                        <a:srgbClr val="D5E2EC"/>
                      </a:solidFill>
                      <a:prstDash val="solid"/>
                      <a:round/>
                      <a:headEnd type="none" w="med" len="med"/>
                      <a:tailEnd type="none" w="med" len="med"/>
                    </a:lnB>
                    <a:solidFill>
                      <a:srgbClr val="F5F0E6"/>
                    </a:solidFill>
                  </a:tcPr>
                </a:tc>
              </a:tr>
            </a:tbl>
          </a:graphicData>
        </a:graphic>
      </p:graphicFrame>
      <p:sp>
        <p:nvSpPr>
          <p:cNvPr id="5" name="Text 2"/>
          <p:cNvSpPr/>
          <p:nvPr/>
        </p:nvSpPr>
        <p:spPr>
          <a:xfrm>
            <a:off x="9006840" y="1417320"/>
            <a:ext cx="2651760" cy="5120640"/>
          </a:xfrm>
          <a:prstGeom prst="rect">
            <a:avLst/>
          </a:prstGeom>
          <a:noFill/>
          <a:ln/>
        </p:spPr>
        <p:txBody>
          <a:bodyPr wrap="square" lIns="0" tIns="0" rIns="0" bIns="0" rtlCol="0" anchor="t"/>
          <a:lstStyle/>
          <a:p>
            <a:pPr indent="0" marL="0">
              <a:spcAft>
                <a:spcPts val="400"/>
              </a:spcAft>
              <a:buNone/>
            </a:pPr>
            <a:r>
              <a:rPr lang="en-US" sz="1300" b="1" dirty="0">
                <a:solidFill>
                  <a:srgbClr val="0A2239"/>
                </a:solidFill>
                <a:latin typeface="Calibri" pitchFamily="34" charset="0"/>
                <a:ea typeface="Calibri" pitchFamily="34" charset="-122"/>
                <a:cs typeface="Calibri" pitchFamily="34" charset="-120"/>
              </a:rPr>
              <a:t>Three-point (PERT) estimate, per the series' method</a:t>
            </a:r>
            <a:endParaRPr lang="en-US" sz="1050" dirty="0"/>
          </a:p>
          <a:p>
            <a:pPr indent="0" marL="0">
              <a:spcAft>
                <a:spcPts val="1000"/>
              </a:spcAft>
              <a:buNone/>
            </a:pPr>
            <a:r>
              <a:rPr lang="en-US" sz="1050" dirty="0">
                <a:solidFill>
                  <a:srgbClr val="1A2733"/>
                </a:solidFill>
                <a:latin typeface="Calibri" pitchFamily="34" charset="0"/>
                <a:ea typeface="Calibri" pitchFamily="34" charset="-122"/>
                <a:cs typeface="Calibri" pitchFamily="34" charset="-120"/>
              </a:rPr>
              <a:t>tₑ = (a + 4m + b)/6, σ = (b − a)/6; components independent, total σ by root-sum-square. ≈200 h, 90% interval ≈175–225 h — about five working weeks for a competent professional.</a:t>
            </a:r>
            <a:endParaRPr lang="en-US" sz="1050" dirty="0"/>
          </a:p>
          <a:p>
            <a:pPr indent="0" marL="0">
              <a:spcAft>
                <a:spcPts val="400"/>
              </a:spcAft>
              <a:buNone/>
            </a:pPr>
            <a:r>
              <a:rPr lang="en-US" sz="1300" b="1" dirty="0">
                <a:solidFill>
                  <a:srgbClr val="0A2239"/>
                </a:solidFill>
                <a:latin typeface="Calibri" pitchFamily="34" charset="0"/>
                <a:ea typeface="Calibri" pitchFamily="34" charset="-122"/>
                <a:cs typeface="Calibri" pitchFamily="34" charset="-120"/>
              </a:rPr>
              <a:t>The AI-coupled side, measured</a:t>
            </a:r>
            <a:endParaRPr lang="en-US" sz="1050" dirty="0"/>
          </a:p>
          <a:p>
            <a:pPr indent="0" marL="0">
              <a:spcAft>
                <a:spcPts val="1000"/>
              </a:spcAft>
              <a:buNone/>
            </a:pPr>
            <a:r>
              <a:rPr lang="en-US" sz="1050" dirty="0">
                <a:solidFill>
                  <a:srgbClr val="1A2733"/>
                </a:solidFill>
                <a:latin typeface="Calibri" pitchFamily="34" charset="0"/>
                <a:ea typeface="Calibri" pitchFamily="34" charset="-122"/>
                <a:cs typeface="Calibri" pitchFamily="34" charset="-120"/>
              </a:rPr>
              <a:t>109 commits, 2026-07-22 → 08-05, clustered into 27 work bursts (≤60 min gaps): ≈22.5 h in-burst, ≈29 h with per-burst overhead. Reported as ≈30 h, rounded up.</a:t>
            </a:r>
            <a:endParaRPr lang="en-US" sz="1050" dirty="0"/>
          </a:p>
          <a:p>
            <a:pPr indent="0" marL="0">
              <a:spcAft>
                <a:spcPts val="400"/>
              </a:spcAft>
              <a:buNone/>
            </a:pPr>
            <a:r>
              <a:rPr lang="en-US" sz="1300" b="1" dirty="0">
                <a:solidFill>
                  <a:srgbClr val="7A5A18"/>
                </a:solidFill>
                <a:latin typeface="Calibri" pitchFamily="34" charset="0"/>
                <a:ea typeface="Calibri" pitchFamily="34" charset="-122"/>
                <a:cs typeface="Calibri" pitchFamily="34" charset="-120"/>
              </a:rPr>
              <a:t>A bias the series had not yet had</a:t>
            </a:r>
            <a:endParaRPr lang="en-US" sz="1050" dirty="0"/>
          </a:p>
          <a:p>
            <a:pPr indent="0" marL="0">
              <a:buNone/>
            </a:pPr>
            <a:r>
              <a:rPr lang="en-US" sz="1050" i="1" dirty="0">
                <a:solidFill>
                  <a:srgbClr val="1A2733"/>
                </a:solidFill>
                <a:latin typeface="Calibri" pitchFamily="34" charset="0"/>
                <a:ea typeface="Calibri" pitchFamily="34" charset="-122"/>
                <a:cs typeface="Calibri" pitchFamily="34" charset="-120"/>
              </a:rPr>
              <a:t>This estimate was produced by the development agent grading its own work — read it with the same suspicion the papers apply to their single shared estimator.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THEORY FROM PRACTICE</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100" b="1" dirty="0">
                <a:solidFill>
                  <a:srgbClr val="0A2239"/>
                </a:solidFill>
                <a:latin typeface="Cambria" pitchFamily="34" charset="0"/>
                <a:ea typeface="Cambria" pitchFamily="34" charset="-122"/>
                <a:cs typeface="Cambria" pitchFamily="34" charset="-120"/>
              </a:rPr>
              <a:t>Recurring defect shapes the conversation method surfaced</a:t>
            </a:r>
            <a:endParaRPr lang="en-US" sz="3100" dirty="0"/>
          </a:p>
        </p:txBody>
      </p:sp>
      <p:sp>
        <p:nvSpPr>
          <p:cNvPr id="4" name="Shape 2"/>
          <p:cNvSpPr/>
          <p:nvPr/>
        </p:nvSpPr>
        <p:spPr>
          <a:xfrm>
            <a:off x="548640" y="1463040"/>
            <a:ext cx="3611880" cy="2194560"/>
          </a:xfrm>
          <a:prstGeom prst="roundRect">
            <a:avLst>
              <a:gd name="adj" fmla="val 3333"/>
            </a:avLst>
          </a:prstGeom>
          <a:solidFill>
            <a:srgbClr val="FFFFFF"/>
          </a:solidFill>
          <a:ln w="9525">
            <a:solidFill>
              <a:srgbClr val="D5E2EC"/>
            </a:solidFill>
            <a:prstDash val="solid"/>
          </a:ln>
        </p:spPr>
      </p:sp>
      <p:sp>
        <p:nvSpPr>
          <p:cNvPr id="5" name="Shape 3"/>
          <p:cNvSpPr/>
          <p:nvPr/>
        </p:nvSpPr>
        <p:spPr>
          <a:xfrm>
            <a:off x="731520" y="1645920"/>
            <a:ext cx="438912" cy="438912"/>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845637" y="1760037"/>
            <a:ext cx="210678" cy="210678"/>
          </a:xfrm>
          <a:prstGeom prst="rect">
            <a:avLst/>
          </a:prstGeom>
        </p:spPr>
      </p:pic>
      <p:sp>
        <p:nvSpPr>
          <p:cNvPr id="7" name="Text 4"/>
          <p:cNvSpPr/>
          <p:nvPr/>
        </p:nvSpPr>
        <p:spPr>
          <a:xfrm>
            <a:off x="1298448" y="1664208"/>
            <a:ext cx="2743200" cy="594360"/>
          </a:xfrm>
          <a:prstGeom prst="rect">
            <a:avLst/>
          </a:prstGeom>
          <a:noFill/>
          <a:ln/>
        </p:spPr>
        <p:txBody>
          <a:bodyPr wrap="square" lIns="0" tIns="0" rIns="0" bIns="0" rtlCol="0" anchor="ctr"/>
          <a:lstStyle/>
          <a:p>
            <a:pPr indent="0" marL="0">
              <a:buNone/>
            </a:pPr>
            <a:r>
              <a:rPr lang="en-US" sz="1300" b="1" dirty="0">
                <a:solidFill>
                  <a:srgbClr val="0A2239"/>
                </a:solidFill>
                <a:latin typeface="Calibri" pitchFamily="34" charset="0"/>
                <a:ea typeface="Calibri" pitchFamily="34" charset="-122"/>
                <a:cs typeface="Calibri" pitchFamily="34" charset="-120"/>
              </a:rPr>
              <a:t>One value, two masters</a:t>
            </a:r>
            <a:endParaRPr lang="en-US" sz="1300" dirty="0"/>
          </a:p>
        </p:txBody>
      </p:sp>
      <p:sp>
        <p:nvSpPr>
          <p:cNvPr id="8" name="Text 5"/>
          <p:cNvSpPr/>
          <p:nvPr/>
        </p:nvSpPr>
        <p:spPr>
          <a:xfrm>
            <a:off x="749808" y="2331720"/>
            <a:ext cx="3200400" cy="1234440"/>
          </a:xfrm>
          <a:prstGeom prst="rect">
            <a:avLst/>
          </a:prstGeom>
          <a:noFill/>
          <a:ln/>
        </p:spPr>
        <p:txBody>
          <a:bodyPr wrap="square" lIns="0" tIns="0" rIns="0" bIns="0" rtlCol="0" anchor="t"/>
          <a:lstStyle/>
          <a:p>
            <a:pPr indent="0" marL="0">
              <a:buNone/>
            </a:pPr>
            <a:r>
              <a:rPr lang="en-US" sz="1050" dirty="0">
                <a:solidFill>
                  <a:srgbClr val="1A2733"/>
                </a:solidFill>
                <a:latin typeface="Calibri" pitchFamily="34" charset="0"/>
                <a:ea typeface="Calibri" pitchFamily="34" charset="-122"/>
                <a:cs typeface="Calibri" pitchFamily="34" charset="-120"/>
              </a:rPr>
              <a:t>A field serving display and logic, or persistent and transient state — nearly every bug in the polish pass reduced to this.</a:t>
            </a:r>
            <a:endParaRPr lang="en-US" sz="1050" dirty="0"/>
          </a:p>
        </p:txBody>
      </p:sp>
      <p:sp>
        <p:nvSpPr>
          <p:cNvPr id="9" name="Shape 6"/>
          <p:cNvSpPr/>
          <p:nvPr/>
        </p:nvSpPr>
        <p:spPr>
          <a:xfrm>
            <a:off x="4389120" y="1463040"/>
            <a:ext cx="3611880" cy="2194560"/>
          </a:xfrm>
          <a:prstGeom prst="roundRect">
            <a:avLst>
              <a:gd name="adj" fmla="val 3333"/>
            </a:avLst>
          </a:prstGeom>
          <a:solidFill>
            <a:srgbClr val="EAF2F8"/>
          </a:solidFill>
          <a:ln w="9525">
            <a:solidFill>
              <a:srgbClr val="D5E2EC"/>
            </a:solidFill>
            <a:prstDash val="solid"/>
          </a:ln>
        </p:spPr>
      </p:sp>
      <p:sp>
        <p:nvSpPr>
          <p:cNvPr id="10" name="Shape 7"/>
          <p:cNvSpPr/>
          <p:nvPr/>
        </p:nvSpPr>
        <p:spPr>
          <a:xfrm>
            <a:off x="4572000" y="1645920"/>
            <a:ext cx="438912" cy="438912"/>
          </a:xfrm>
          <a:prstGeom prst="ellipse">
            <a:avLst/>
          </a:prstGeom>
          <a:solidFill>
            <a:srgbClr val="065A82"/>
          </a:solidFill>
          <a:ln/>
        </p:spPr>
      </p:sp>
      <p:pic>
        <p:nvPicPr>
          <p:cNvPr id="11" name="Image 1" descr="preencoded.png">    </p:cNvPr>
          <p:cNvPicPr>
            <a:picLocks noChangeAspect="1"/>
          </p:cNvPicPr>
          <p:nvPr/>
        </p:nvPicPr>
        <p:blipFill>
          <a:blip r:embed="rId2"/>
          <a:stretch>
            <a:fillRect/>
          </a:stretch>
        </p:blipFill>
        <p:spPr>
          <a:xfrm>
            <a:off x="4686117" y="1760037"/>
            <a:ext cx="210678" cy="210678"/>
          </a:xfrm>
          <a:prstGeom prst="rect">
            <a:avLst/>
          </a:prstGeom>
        </p:spPr>
      </p:pic>
      <p:sp>
        <p:nvSpPr>
          <p:cNvPr id="12" name="Text 8"/>
          <p:cNvSpPr/>
          <p:nvPr/>
        </p:nvSpPr>
        <p:spPr>
          <a:xfrm>
            <a:off x="5138928" y="1664208"/>
            <a:ext cx="2743200" cy="594360"/>
          </a:xfrm>
          <a:prstGeom prst="rect">
            <a:avLst/>
          </a:prstGeom>
          <a:noFill/>
          <a:ln/>
        </p:spPr>
        <p:txBody>
          <a:bodyPr wrap="square" lIns="0" tIns="0" rIns="0" bIns="0" rtlCol="0" anchor="ctr"/>
          <a:lstStyle/>
          <a:p>
            <a:pPr indent="0" marL="0">
              <a:buNone/>
            </a:pPr>
            <a:r>
              <a:rPr lang="en-US" sz="1300" b="1" dirty="0">
                <a:solidFill>
                  <a:srgbClr val="0A2239"/>
                </a:solidFill>
                <a:latin typeface="Calibri" pitchFamily="34" charset="0"/>
                <a:ea typeface="Calibri" pitchFamily="34" charset="-122"/>
                <a:cs typeface="Calibri" pitchFamily="34" charset="-120"/>
              </a:rPr>
              <a:t>Remember vs derive</a:t>
            </a:r>
            <a:endParaRPr lang="en-US" sz="1300" dirty="0"/>
          </a:p>
        </p:txBody>
      </p:sp>
      <p:sp>
        <p:nvSpPr>
          <p:cNvPr id="13" name="Text 9"/>
          <p:cNvSpPr/>
          <p:nvPr/>
        </p:nvSpPr>
        <p:spPr>
          <a:xfrm>
            <a:off x="4590288" y="2331720"/>
            <a:ext cx="3200400" cy="1234440"/>
          </a:xfrm>
          <a:prstGeom prst="rect">
            <a:avLst/>
          </a:prstGeom>
          <a:noFill/>
          <a:ln/>
        </p:spPr>
        <p:txBody>
          <a:bodyPr wrap="square" lIns="0" tIns="0" rIns="0" bIns="0" rtlCol="0" anchor="t"/>
          <a:lstStyle/>
          <a:p>
            <a:pPr indent="0" marL="0">
              <a:buNone/>
            </a:pPr>
            <a:r>
              <a:rPr lang="en-US" sz="1050" dirty="0">
                <a:solidFill>
                  <a:srgbClr val="1A2733"/>
                </a:solidFill>
                <a:latin typeface="Calibri" pitchFamily="34" charset="0"/>
                <a:ea typeface="Calibri" pitchFamily="34" charset="-122"/>
                <a:cs typeface="Calibri" pitchFamily="34" charset="-120"/>
              </a:rPr>
              <a:t>A snapshot drifts from the thing it describes; a value re-derived from the source of truth cannot. Deriving forced out two bugs a snapshot would have hidden.</a:t>
            </a:r>
            <a:endParaRPr lang="en-US" sz="1050" dirty="0"/>
          </a:p>
        </p:txBody>
      </p:sp>
      <p:sp>
        <p:nvSpPr>
          <p:cNvPr id="14" name="Shape 10"/>
          <p:cNvSpPr/>
          <p:nvPr/>
        </p:nvSpPr>
        <p:spPr>
          <a:xfrm>
            <a:off x="8229600" y="1463040"/>
            <a:ext cx="3611880" cy="2194560"/>
          </a:xfrm>
          <a:prstGeom prst="roundRect">
            <a:avLst>
              <a:gd name="adj" fmla="val 3333"/>
            </a:avLst>
          </a:prstGeom>
          <a:solidFill>
            <a:srgbClr val="FFFFFF"/>
          </a:solidFill>
          <a:ln w="9525">
            <a:solidFill>
              <a:srgbClr val="D5E2EC"/>
            </a:solidFill>
            <a:prstDash val="solid"/>
          </a:ln>
        </p:spPr>
      </p:sp>
      <p:sp>
        <p:nvSpPr>
          <p:cNvPr id="15" name="Shape 11"/>
          <p:cNvSpPr/>
          <p:nvPr/>
        </p:nvSpPr>
        <p:spPr>
          <a:xfrm>
            <a:off x="8412480" y="1645920"/>
            <a:ext cx="438912" cy="438912"/>
          </a:xfrm>
          <a:prstGeom prst="ellipse">
            <a:avLst/>
          </a:prstGeom>
          <a:solidFill>
            <a:srgbClr val="065A82"/>
          </a:solidFill>
          <a:ln/>
        </p:spPr>
      </p:sp>
      <p:pic>
        <p:nvPicPr>
          <p:cNvPr id="16" name="Image 2" descr="preencoded.png">    </p:cNvPr>
          <p:cNvPicPr>
            <a:picLocks noChangeAspect="1"/>
          </p:cNvPicPr>
          <p:nvPr/>
        </p:nvPicPr>
        <p:blipFill>
          <a:blip r:embed="rId3"/>
          <a:stretch>
            <a:fillRect/>
          </a:stretch>
        </p:blipFill>
        <p:spPr>
          <a:xfrm>
            <a:off x="8526597" y="1760037"/>
            <a:ext cx="210678" cy="210678"/>
          </a:xfrm>
          <a:prstGeom prst="rect">
            <a:avLst/>
          </a:prstGeom>
        </p:spPr>
      </p:pic>
      <p:sp>
        <p:nvSpPr>
          <p:cNvPr id="17" name="Text 12"/>
          <p:cNvSpPr/>
          <p:nvPr/>
        </p:nvSpPr>
        <p:spPr>
          <a:xfrm>
            <a:off x="8979408" y="1664208"/>
            <a:ext cx="2743200" cy="594360"/>
          </a:xfrm>
          <a:prstGeom prst="rect">
            <a:avLst/>
          </a:prstGeom>
          <a:noFill/>
          <a:ln/>
        </p:spPr>
        <p:txBody>
          <a:bodyPr wrap="square" lIns="0" tIns="0" rIns="0" bIns="0" rtlCol="0" anchor="ctr"/>
          <a:lstStyle/>
          <a:p>
            <a:pPr indent="0" marL="0">
              <a:buNone/>
            </a:pPr>
            <a:r>
              <a:rPr lang="en-US" sz="1300" b="1" dirty="0">
                <a:solidFill>
                  <a:srgbClr val="0A2239"/>
                </a:solidFill>
                <a:latin typeface="Calibri" pitchFamily="34" charset="0"/>
                <a:ea typeface="Calibri" pitchFamily="34" charset="-122"/>
                <a:cs typeface="Calibri" pitchFamily="34" charset="-120"/>
              </a:rPr>
              <a:t>The masked branch</a:t>
            </a:r>
            <a:endParaRPr lang="en-US" sz="1300" dirty="0"/>
          </a:p>
        </p:txBody>
      </p:sp>
      <p:sp>
        <p:nvSpPr>
          <p:cNvPr id="18" name="Text 13"/>
          <p:cNvSpPr/>
          <p:nvPr/>
        </p:nvSpPr>
        <p:spPr>
          <a:xfrm>
            <a:off x="8430768" y="2331720"/>
            <a:ext cx="3200400" cy="1234440"/>
          </a:xfrm>
          <a:prstGeom prst="rect">
            <a:avLst/>
          </a:prstGeom>
          <a:noFill/>
          <a:ln/>
        </p:spPr>
        <p:txBody>
          <a:bodyPr wrap="square" lIns="0" tIns="0" rIns="0" bIns="0" rtlCol="0" anchor="t"/>
          <a:lstStyle/>
          <a:p>
            <a:pPr indent="0" marL="0">
              <a:buNone/>
            </a:pPr>
            <a:r>
              <a:rPr lang="en-US" sz="1050" dirty="0">
                <a:solidFill>
                  <a:srgbClr val="1A2733"/>
                </a:solidFill>
                <a:latin typeface="Calibri" pitchFamily="34" charset="0"/>
                <a:ea typeface="Calibri" pitchFamily="34" charset="-122"/>
                <a:cs typeface="Calibri" pitchFamily="34" charset="-120"/>
              </a:rPr>
              <a:t>Every harness passed --no-log, so the logging branch went untested no matter how many suites ran past it. A masked branch is an untested branch.</a:t>
            </a:r>
            <a:endParaRPr lang="en-US" sz="1050" dirty="0"/>
          </a:p>
        </p:txBody>
      </p:sp>
      <p:sp>
        <p:nvSpPr>
          <p:cNvPr id="19" name="Shape 14"/>
          <p:cNvSpPr/>
          <p:nvPr/>
        </p:nvSpPr>
        <p:spPr>
          <a:xfrm>
            <a:off x="548640" y="3840480"/>
            <a:ext cx="3611880" cy="2194560"/>
          </a:xfrm>
          <a:prstGeom prst="roundRect">
            <a:avLst>
              <a:gd name="adj" fmla="val 3333"/>
            </a:avLst>
          </a:prstGeom>
          <a:solidFill>
            <a:srgbClr val="EAF2F8"/>
          </a:solidFill>
          <a:ln w="9525">
            <a:solidFill>
              <a:srgbClr val="D5E2EC"/>
            </a:solidFill>
            <a:prstDash val="solid"/>
          </a:ln>
        </p:spPr>
      </p:sp>
      <p:sp>
        <p:nvSpPr>
          <p:cNvPr id="20" name="Shape 15"/>
          <p:cNvSpPr/>
          <p:nvPr/>
        </p:nvSpPr>
        <p:spPr>
          <a:xfrm>
            <a:off x="731520" y="4023360"/>
            <a:ext cx="438912" cy="438912"/>
          </a:xfrm>
          <a:prstGeom prst="ellipse">
            <a:avLst/>
          </a:prstGeom>
          <a:solidFill>
            <a:srgbClr val="065A82"/>
          </a:solidFill>
          <a:ln/>
        </p:spPr>
      </p:sp>
      <p:pic>
        <p:nvPicPr>
          <p:cNvPr id="21" name="Image 3" descr="preencoded.png">    </p:cNvPr>
          <p:cNvPicPr>
            <a:picLocks noChangeAspect="1"/>
          </p:cNvPicPr>
          <p:nvPr/>
        </p:nvPicPr>
        <p:blipFill>
          <a:blip r:embed="rId4"/>
          <a:stretch>
            <a:fillRect/>
          </a:stretch>
        </p:blipFill>
        <p:spPr>
          <a:xfrm>
            <a:off x="845637" y="4137477"/>
            <a:ext cx="210678" cy="210678"/>
          </a:xfrm>
          <a:prstGeom prst="rect">
            <a:avLst/>
          </a:prstGeom>
        </p:spPr>
      </p:pic>
      <p:sp>
        <p:nvSpPr>
          <p:cNvPr id="22" name="Text 16"/>
          <p:cNvSpPr/>
          <p:nvPr/>
        </p:nvSpPr>
        <p:spPr>
          <a:xfrm>
            <a:off x="1298448" y="4041648"/>
            <a:ext cx="2743200" cy="594360"/>
          </a:xfrm>
          <a:prstGeom prst="rect">
            <a:avLst/>
          </a:prstGeom>
          <a:noFill/>
          <a:ln/>
        </p:spPr>
        <p:txBody>
          <a:bodyPr wrap="square" lIns="0" tIns="0" rIns="0" bIns="0" rtlCol="0" anchor="ctr"/>
          <a:lstStyle/>
          <a:p>
            <a:pPr indent="0" marL="0">
              <a:buNone/>
            </a:pPr>
            <a:r>
              <a:rPr lang="en-US" sz="1300" b="1" dirty="0">
                <a:solidFill>
                  <a:srgbClr val="0A2239"/>
                </a:solidFill>
                <a:latin typeface="Calibri" pitchFamily="34" charset="0"/>
                <a:ea typeface="Calibri" pitchFamily="34" charset="-122"/>
                <a:cs typeface="Calibri" pitchFamily="34" charset="-120"/>
              </a:rPr>
              <a:t>A check that can't tell bug from fix</a:t>
            </a:r>
            <a:endParaRPr lang="en-US" sz="1300" dirty="0"/>
          </a:p>
        </p:txBody>
      </p:sp>
      <p:sp>
        <p:nvSpPr>
          <p:cNvPr id="23" name="Text 17"/>
          <p:cNvSpPr/>
          <p:nvPr/>
        </p:nvSpPr>
        <p:spPr>
          <a:xfrm>
            <a:off x="749808" y="4709160"/>
            <a:ext cx="3200400" cy="1234440"/>
          </a:xfrm>
          <a:prstGeom prst="rect">
            <a:avLst/>
          </a:prstGeom>
          <a:noFill/>
          <a:ln/>
        </p:spPr>
        <p:txBody>
          <a:bodyPr wrap="square" lIns="0" tIns="0" rIns="0" bIns="0" rtlCol="0" anchor="t"/>
          <a:lstStyle/>
          <a:p>
            <a:pPr indent="0" marL="0">
              <a:buNone/>
            </a:pPr>
            <a:r>
              <a:rPr lang="en-US" sz="1050" dirty="0">
                <a:solidFill>
                  <a:srgbClr val="1A2733"/>
                </a:solidFill>
                <a:latin typeface="Calibri" pitchFamily="34" charset="0"/>
                <a:ea typeface="Calibri" pitchFamily="34" charset="-122"/>
                <a:cs typeface="Calibri" pitchFamily="34" charset="-120"/>
              </a:rPr>
              <a:t>A filter test with nothing to filter; a hash compared to itself; asserting a field's name instead of its value. Hit three times in one session.</a:t>
            </a:r>
            <a:endParaRPr lang="en-US" sz="1050" dirty="0"/>
          </a:p>
        </p:txBody>
      </p:sp>
      <p:sp>
        <p:nvSpPr>
          <p:cNvPr id="24" name="Shape 18"/>
          <p:cNvSpPr/>
          <p:nvPr/>
        </p:nvSpPr>
        <p:spPr>
          <a:xfrm>
            <a:off x="4389120" y="3840480"/>
            <a:ext cx="3611880" cy="2194560"/>
          </a:xfrm>
          <a:prstGeom prst="roundRect">
            <a:avLst>
              <a:gd name="adj" fmla="val 3333"/>
            </a:avLst>
          </a:prstGeom>
          <a:solidFill>
            <a:srgbClr val="FFFFFF"/>
          </a:solidFill>
          <a:ln w="9525">
            <a:solidFill>
              <a:srgbClr val="D5E2EC"/>
            </a:solidFill>
            <a:prstDash val="solid"/>
          </a:ln>
        </p:spPr>
      </p:sp>
      <p:sp>
        <p:nvSpPr>
          <p:cNvPr id="25" name="Shape 19"/>
          <p:cNvSpPr/>
          <p:nvPr/>
        </p:nvSpPr>
        <p:spPr>
          <a:xfrm>
            <a:off x="4572000" y="4023360"/>
            <a:ext cx="438912" cy="438912"/>
          </a:xfrm>
          <a:prstGeom prst="ellipse">
            <a:avLst/>
          </a:prstGeom>
          <a:solidFill>
            <a:srgbClr val="065A82"/>
          </a:solidFill>
          <a:ln/>
        </p:spPr>
      </p:sp>
      <p:pic>
        <p:nvPicPr>
          <p:cNvPr id="26" name="Image 4" descr="preencoded.png">    </p:cNvPr>
          <p:cNvPicPr>
            <a:picLocks noChangeAspect="1"/>
          </p:cNvPicPr>
          <p:nvPr/>
        </p:nvPicPr>
        <p:blipFill>
          <a:blip r:embed="rId5"/>
          <a:stretch>
            <a:fillRect/>
          </a:stretch>
        </p:blipFill>
        <p:spPr>
          <a:xfrm>
            <a:off x="4686117" y="4137477"/>
            <a:ext cx="210678" cy="210678"/>
          </a:xfrm>
          <a:prstGeom prst="rect">
            <a:avLst/>
          </a:prstGeom>
        </p:spPr>
      </p:pic>
      <p:sp>
        <p:nvSpPr>
          <p:cNvPr id="27" name="Text 20"/>
          <p:cNvSpPr/>
          <p:nvPr/>
        </p:nvSpPr>
        <p:spPr>
          <a:xfrm>
            <a:off x="5138928" y="4041648"/>
            <a:ext cx="2743200" cy="594360"/>
          </a:xfrm>
          <a:prstGeom prst="rect">
            <a:avLst/>
          </a:prstGeom>
          <a:noFill/>
          <a:ln/>
        </p:spPr>
        <p:txBody>
          <a:bodyPr wrap="square" lIns="0" tIns="0" rIns="0" bIns="0" rtlCol="0" anchor="ctr"/>
          <a:lstStyle/>
          <a:p>
            <a:pPr indent="0" marL="0">
              <a:buNone/>
            </a:pPr>
            <a:r>
              <a:rPr lang="en-US" sz="1300" b="1" dirty="0">
                <a:solidFill>
                  <a:srgbClr val="0A2239"/>
                </a:solidFill>
                <a:latin typeface="Calibri" pitchFamily="34" charset="0"/>
                <a:ea typeface="Calibri" pitchFamily="34" charset="-122"/>
                <a:cs typeface="Calibri" pitchFamily="34" charset="-120"/>
              </a:rPr>
              <a:t>Accurate card, wrong about the boat</a:t>
            </a:r>
            <a:endParaRPr lang="en-US" sz="1300" dirty="0"/>
          </a:p>
        </p:txBody>
      </p:sp>
      <p:sp>
        <p:nvSpPr>
          <p:cNvPr id="28" name="Text 21"/>
          <p:cNvSpPr/>
          <p:nvPr/>
        </p:nvSpPr>
        <p:spPr>
          <a:xfrm>
            <a:off x="4590288" y="4709160"/>
            <a:ext cx="3200400" cy="1234440"/>
          </a:xfrm>
          <a:prstGeom prst="rect">
            <a:avLst/>
          </a:prstGeom>
          <a:noFill/>
          <a:ln/>
        </p:spPr>
        <p:txBody>
          <a:bodyPr wrap="square" lIns="0" tIns="0" rIns="0" bIns="0" rtlCol="0" anchor="t"/>
          <a:lstStyle/>
          <a:p>
            <a:pPr indent="0" marL="0">
              <a:buNone/>
            </a:pPr>
            <a:r>
              <a:rPr lang="en-US" sz="1050" dirty="0">
                <a:solidFill>
                  <a:srgbClr val="1A2733"/>
                </a:solidFill>
                <a:latin typeface="Calibri" pitchFamily="34" charset="0"/>
                <a:ea typeface="Calibri" pitchFamily="34" charset="-122"/>
                <a:cs typeface="Calibri" pitchFamily="34" charset="-120"/>
              </a:rPr>
              <a:t>A readout can be correct about its own field and still not answer the question the operator reads it for.</a:t>
            </a:r>
            <a:endParaRPr lang="en-US" sz="1050" dirty="0"/>
          </a:p>
        </p:txBody>
      </p:sp>
      <p:sp>
        <p:nvSpPr>
          <p:cNvPr id="29" name="Shape 22"/>
          <p:cNvSpPr/>
          <p:nvPr/>
        </p:nvSpPr>
        <p:spPr>
          <a:xfrm>
            <a:off x="8229600" y="3840480"/>
            <a:ext cx="3611880" cy="2194560"/>
          </a:xfrm>
          <a:prstGeom prst="roundRect">
            <a:avLst>
              <a:gd name="adj" fmla="val 3333"/>
            </a:avLst>
          </a:prstGeom>
          <a:solidFill>
            <a:srgbClr val="EAF2F8"/>
          </a:solidFill>
          <a:ln w="9525">
            <a:solidFill>
              <a:srgbClr val="D5E2EC"/>
            </a:solidFill>
            <a:prstDash val="solid"/>
          </a:ln>
        </p:spPr>
      </p:sp>
      <p:sp>
        <p:nvSpPr>
          <p:cNvPr id="30" name="Shape 23"/>
          <p:cNvSpPr/>
          <p:nvPr/>
        </p:nvSpPr>
        <p:spPr>
          <a:xfrm>
            <a:off x="8412480" y="4023360"/>
            <a:ext cx="438912" cy="438912"/>
          </a:xfrm>
          <a:prstGeom prst="ellipse">
            <a:avLst/>
          </a:prstGeom>
          <a:solidFill>
            <a:srgbClr val="065A82"/>
          </a:solidFill>
          <a:ln/>
        </p:spPr>
      </p:sp>
      <p:pic>
        <p:nvPicPr>
          <p:cNvPr id="31" name="Image 5" descr="preencoded.png">    </p:cNvPr>
          <p:cNvPicPr>
            <a:picLocks noChangeAspect="1"/>
          </p:cNvPicPr>
          <p:nvPr/>
        </p:nvPicPr>
        <p:blipFill>
          <a:blip r:embed="rId6"/>
          <a:stretch>
            <a:fillRect/>
          </a:stretch>
        </p:blipFill>
        <p:spPr>
          <a:xfrm>
            <a:off x="8526597" y="4137477"/>
            <a:ext cx="210678" cy="210678"/>
          </a:xfrm>
          <a:prstGeom prst="rect">
            <a:avLst/>
          </a:prstGeom>
        </p:spPr>
      </p:pic>
      <p:sp>
        <p:nvSpPr>
          <p:cNvPr id="32" name="Text 24"/>
          <p:cNvSpPr/>
          <p:nvPr/>
        </p:nvSpPr>
        <p:spPr>
          <a:xfrm>
            <a:off x="8979408" y="4041648"/>
            <a:ext cx="2743200" cy="594360"/>
          </a:xfrm>
          <a:prstGeom prst="rect">
            <a:avLst/>
          </a:prstGeom>
          <a:noFill/>
          <a:ln/>
        </p:spPr>
        <p:txBody>
          <a:bodyPr wrap="square" lIns="0" tIns="0" rIns="0" bIns="0" rtlCol="0" anchor="ctr"/>
          <a:lstStyle/>
          <a:p>
            <a:pPr indent="0" marL="0">
              <a:buNone/>
            </a:pPr>
            <a:r>
              <a:rPr lang="en-US" sz="1300" b="1" dirty="0">
                <a:solidFill>
                  <a:srgbClr val="0A2239"/>
                </a:solidFill>
                <a:latin typeface="Calibri" pitchFamily="34" charset="0"/>
                <a:ea typeface="Calibri" pitchFamily="34" charset="-122"/>
                <a:cs typeface="Calibri" pitchFamily="34" charset="-120"/>
              </a:rPr>
              <a:t>Build-time vs in-use verification</a:t>
            </a:r>
            <a:endParaRPr lang="en-US" sz="1300" dirty="0"/>
          </a:p>
        </p:txBody>
      </p:sp>
      <p:sp>
        <p:nvSpPr>
          <p:cNvPr id="33" name="Text 25"/>
          <p:cNvSpPr/>
          <p:nvPr/>
        </p:nvSpPr>
        <p:spPr>
          <a:xfrm>
            <a:off x="8430768" y="4709160"/>
            <a:ext cx="3200400" cy="1234440"/>
          </a:xfrm>
          <a:prstGeom prst="rect">
            <a:avLst/>
          </a:prstGeom>
          <a:noFill/>
          <a:ln/>
        </p:spPr>
        <p:txBody>
          <a:bodyPr wrap="square" lIns="0" tIns="0" rIns="0" bIns="0" rtlCol="0" anchor="t"/>
          <a:lstStyle/>
          <a:p>
            <a:pPr indent="0" marL="0">
              <a:buNone/>
            </a:pPr>
            <a:r>
              <a:rPr lang="en-US" sz="1050" dirty="0">
                <a:solidFill>
                  <a:srgbClr val="1A2733"/>
                </a:solidFill>
                <a:latin typeface="Calibri" pitchFamily="34" charset="0"/>
                <a:ea typeface="Calibri" pitchFamily="34" charset="-122"/>
                <a:cs typeface="Calibri" pitchFamily="34" charset="-120"/>
              </a:rPr>
              <a:t>The Q-Hub lesson, confirmed here: passing the builder's tests does not discharge the operator's — real use finds the gap the test plan's author could not.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LIMITS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100" b="1" dirty="0">
                <a:solidFill>
                  <a:srgbClr val="0A2239"/>
                </a:solidFill>
                <a:latin typeface="Cambria" pitchFamily="34" charset="0"/>
                <a:ea typeface="Cambria" pitchFamily="34" charset="-122"/>
                <a:cs typeface="Cambria" pitchFamily="34" charset="-120"/>
              </a:rPr>
              <a:t>Threats to validity, and the study this calls for</a:t>
            </a:r>
            <a:endParaRPr lang="en-US" sz="3100" dirty="0"/>
          </a:p>
        </p:txBody>
      </p:sp>
      <p:sp>
        <p:nvSpPr>
          <p:cNvPr id="4" name="Shape 2"/>
          <p:cNvSpPr/>
          <p:nvPr/>
        </p:nvSpPr>
        <p:spPr>
          <a:xfrm>
            <a:off x="548640" y="1463040"/>
            <a:ext cx="5486400" cy="4480560"/>
          </a:xfrm>
          <a:prstGeom prst="roundRect">
            <a:avLst>
              <a:gd name="adj" fmla="val 1633"/>
            </a:avLst>
          </a:prstGeom>
          <a:solidFill>
            <a:srgbClr val="EAF2F8"/>
          </a:solidFill>
          <a:ln/>
        </p:spPr>
      </p:sp>
      <p:sp>
        <p:nvSpPr>
          <p:cNvPr id="5" name="Shape 3"/>
          <p:cNvSpPr/>
          <p:nvPr/>
        </p:nvSpPr>
        <p:spPr>
          <a:xfrm>
            <a:off x="868680" y="1691640"/>
            <a:ext cx="502920" cy="502920"/>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999439" y="1822399"/>
            <a:ext cx="241402" cy="241402"/>
          </a:xfrm>
          <a:prstGeom prst="rect">
            <a:avLst/>
          </a:prstGeom>
        </p:spPr>
      </p:pic>
      <p:sp>
        <p:nvSpPr>
          <p:cNvPr id="7" name="Text 4"/>
          <p:cNvSpPr/>
          <p:nvPr/>
        </p:nvSpPr>
        <p:spPr>
          <a:xfrm>
            <a:off x="1554480" y="1783080"/>
            <a:ext cx="4114800" cy="365760"/>
          </a:xfrm>
          <a:prstGeom prst="rect">
            <a:avLst/>
          </a:prstGeom>
          <a:noFill/>
          <a:ln/>
        </p:spPr>
        <p:txBody>
          <a:bodyPr wrap="square" lIns="0" tIns="0" rIns="0" bIns="0" rtlCol="0" anchor="ctr"/>
          <a:lstStyle/>
          <a:p>
            <a:pPr indent="0" marL="0">
              <a:buNone/>
            </a:pPr>
            <a:r>
              <a:rPr lang="en-US" sz="1600" b="1" dirty="0">
                <a:solidFill>
                  <a:srgbClr val="0A2239"/>
                </a:solidFill>
                <a:latin typeface="Calibri" pitchFamily="34" charset="0"/>
                <a:ea typeface="Calibri" pitchFamily="34" charset="-122"/>
                <a:cs typeface="Calibri" pitchFamily="34" charset="-120"/>
              </a:rPr>
              <a:t>Threats to validity</a:t>
            </a:r>
            <a:endParaRPr lang="en-US" sz="1600" dirty="0"/>
          </a:p>
        </p:txBody>
      </p:sp>
      <p:sp>
        <p:nvSpPr>
          <p:cNvPr id="8" name="Text 5"/>
          <p:cNvSpPr/>
          <p:nvPr/>
        </p:nvSpPr>
        <p:spPr>
          <a:xfrm>
            <a:off x="914400" y="2286000"/>
            <a:ext cx="4846320" cy="352044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A2733"/>
                </a:solidFill>
                <a:latin typeface="Calibri" pitchFamily="34" charset="0"/>
                <a:ea typeface="Calibri" pitchFamily="34" charset="-122"/>
                <a:cs typeface="Calibri" pitchFamily="34" charset="-120"/>
              </a:rPr>
              <a:t>Observed cases, not controlled trials — n = 1 four times over, pointing the same way but never aggregated</a:t>
            </a:r>
            <a:endParaRPr lang="en-US" sz="1200" dirty="0"/>
          </a:p>
          <a:p>
            <a:pPr marL="342900" indent="-342900">
              <a:spcAft>
                <a:spcPts val="700"/>
              </a:spcAft>
              <a:buSzPct val="100000"/>
              <a:buChar char="•"/>
            </a:pPr>
            <a:r>
              <a:rPr lang="en-US" sz="1200" dirty="0">
                <a:solidFill>
                  <a:srgbClr val="1A2733"/>
                </a:solidFill>
                <a:latin typeface="Calibri" pitchFamily="34" charset="0"/>
                <a:ea typeface="Calibri" pitchFamily="34" charset="-122"/>
                <a:cs typeface="Calibri" pitchFamily="34" charset="-120"/>
              </a:rPr>
              <a:t>One author is specifier, estimator, and grader of his own schema — correlated bias by construction</a:t>
            </a:r>
            <a:endParaRPr lang="en-US" sz="1200" dirty="0"/>
          </a:p>
          <a:p>
            <a:pPr marL="342900" indent="-342900">
              <a:spcAft>
                <a:spcPts val="700"/>
              </a:spcAft>
              <a:buSzPct val="100000"/>
              <a:buChar char="•"/>
            </a:pPr>
            <a:r>
              <a:rPr lang="en-US" sz="1200" dirty="0">
                <a:solidFill>
                  <a:srgbClr val="1A2733"/>
                </a:solidFill>
                <a:latin typeface="Calibri" pitchFamily="34" charset="0"/>
                <a:ea typeface="Calibri" pitchFamily="34" charset="-122"/>
                <a:cs typeface="Calibri" pitchFamily="34" charset="-120"/>
              </a:rPr>
              <a:t>Effort baselines are modeled (PERT), not measured; actuals are uninstrumented bounds</a:t>
            </a:r>
            <a:endParaRPr lang="en-US" sz="1200" dirty="0"/>
          </a:p>
          <a:p>
            <a:pPr marL="342900" indent="-342900">
              <a:spcAft>
                <a:spcPts val="700"/>
              </a:spcAft>
              <a:buSzPct val="100000"/>
              <a:buChar char="•"/>
            </a:pPr>
            <a:r>
              <a:rPr lang="en-US" sz="1200" dirty="0">
                <a:solidFill>
                  <a:srgbClr val="1A2733"/>
                </a:solidFill>
                <a:latin typeface="Calibri" pitchFamily="34" charset="0"/>
                <a:ea typeface="Calibri" pitchFamily="34" charset="-122"/>
                <a:cs typeface="Calibri" pitchFamily="34" charset="-120"/>
              </a:rPr>
              <a:t>Ratios from single-purpose field instrumentation — they should not be stretched to large systems, where architecture and maintenance dominate</a:t>
            </a:r>
            <a:endParaRPr lang="en-US" sz="1200" dirty="0"/>
          </a:p>
          <a:p>
            <a:pPr marL="342900" indent="-342900">
              <a:buSzPct val="100000"/>
              <a:buChar char="•"/>
            </a:pPr>
            <a:r>
              <a:rPr lang="en-US" sz="1200" dirty="0">
                <a:solidFill>
                  <a:srgbClr val="1A2733"/>
                </a:solidFill>
                <a:latin typeface="Calibri" pitchFamily="34" charset="0"/>
                <a:ea typeface="Calibri" pitchFamily="34" charset="-122"/>
                <a:cs typeface="Calibri" pitchFamily="34" charset="-120"/>
              </a:rPr>
              <a:t>The schema leans on a capable agent: without empirical discovery and self-distrust, slots 4 and 7 give back little</a:t>
            </a:r>
            <a:endParaRPr lang="en-US" sz="1200" dirty="0"/>
          </a:p>
        </p:txBody>
      </p:sp>
      <p:sp>
        <p:nvSpPr>
          <p:cNvPr id="9" name="Shape 6"/>
          <p:cNvSpPr/>
          <p:nvPr/>
        </p:nvSpPr>
        <p:spPr>
          <a:xfrm>
            <a:off x="6263640" y="1463040"/>
            <a:ext cx="5394960" cy="4480560"/>
          </a:xfrm>
          <a:prstGeom prst="roundRect">
            <a:avLst>
              <a:gd name="adj" fmla="val 1633"/>
            </a:avLst>
          </a:prstGeom>
          <a:solidFill>
            <a:srgbClr val="FFFFFF"/>
          </a:solidFill>
          <a:ln w="12700">
            <a:solidFill>
              <a:srgbClr val="D5E2EC"/>
            </a:solidFill>
            <a:prstDash val="solid"/>
          </a:ln>
        </p:spPr>
      </p:sp>
      <p:sp>
        <p:nvSpPr>
          <p:cNvPr id="10" name="Shape 7"/>
          <p:cNvSpPr/>
          <p:nvPr/>
        </p:nvSpPr>
        <p:spPr>
          <a:xfrm>
            <a:off x="6583680" y="1691640"/>
            <a:ext cx="502920" cy="502920"/>
          </a:xfrm>
          <a:prstGeom prst="ellipse">
            <a:avLst/>
          </a:prstGeom>
          <a:solidFill>
            <a:srgbClr val="C9862B"/>
          </a:solidFill>
          <a:ln/>
        </p:spPr>
      </p:sp>
      <p:pic>
        <p:nvPicPr>
          <p:cNvPr id="11" name="Image 1" descr="preencoded.png">    </p:cNvPr>
          <p:cNvPicPr>
            <a:picLocks noChangeAspect="1"/>
          </p:cNvPicPr>
          <p:nvPr/>
        </p:nvPicPr>
        <p:blipFill>
          <a:blip r:embed="rId2"/>
          <a:stretch>
            <a:fillRect/>
          </a:stretch>
        </p:blipFill>
        <p:spPr>
          <a:xfrm>
            <a:off x="6714439" y="1822399"/>
            <a:ext cx="241402" cy="241402"/>
          </a:xfrm>
          <a:prstGeom prst="rect">
            <a:avLst/>
          </a:prstGeom>
        </p:spPr>
      </p:pic>
      <p:sp>
        <p:nvSpPr>
          <p:cNvPr id="12" name="Text 8"/>
          <p:cNvSpPr/>
          <p:nvPr/>
        </p:nvSpPr>
        <p:spPr>
          <a:xfrm>
            <a:off x="7269480" y="1783080"/>
            <a:ext cx="4206240" cy="365760"/>
          </a:xfrm>
          <a:prstGeom prst="rect">
            <a:avLst/>
          </a:prstGeom>
          <a:noFill/>
          <a:ln/>
        </p:spPr>
        <p:txBody>
          <a:bodyPr wrap="square" lIns="0" tIns="0" rIns="0" bIns="0" rtlCol="0" anchor="ctr"/>
          <a:lstStyle/>
          <a:p>
            <a:pPr indent="0" marL="0">
              <a:buNone/>
            </a:pPr>
            <a:r>
              <a:rPr lang="en-US" sz="1600" b="1" dirty="0">
                <a:solidFill>
                  <a:srgbClr val="0A2239"/>
                </a:solidFill>
                <a:latin typeface="Calibri" pitchFamily="34" charset="0"/>
                <a:ea typeface="Calibri" pitchFamily="34" charset="-122"/>
                <a:cs typeface="Calibri" pitchFamily="34" charset="-120"/>
              </a:rPr>
              <a:t>The controlled study to run</a:t>
            </a:r>
            <a:endParaRPr lang="en-US" sz="1600" dirty="0"/>
          </a:p>
        </p:txBody>
      </p:sp>
      <p:sp>
        <p:nvSpPr>
          <p:cNvPr id="13" name="Text 9"/>
          <p:cNvSpPr/>
          <p:nvPr/>
        </p:nvSpPr>
        <p:spPr>
          <a:xfrm>
            <a:off x="6629400" y="2286000"/>
            <a:ext cx="4754880" cy="352044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A2733"/>
                </a:solidFill>
                <a:latin typeface="Calibri" pitchFamily="34" charset="0"/>
                <a:ea typeface="Calibri" pitchFamily="34" charset="-122"/>
                <a:cs typeface="Calibri" pitchFamily="34" charset="-120"/>
              </a:rPr>
              <a:t>Paired tasks: domain experts with and without the structured opening prompt, across several devices</a:t>
            </a:r>
            <a:endParaRPr lang="en-US" sz="1200" dirty="0"/>
          </a:p>
          <a:p>
            <a:pPr marL="342900" indent="-342900">
              <a:spcAft>
                <a:spcPts val="700"/>
              </a:spcAft>
              <a:buSzPct val="100000"/>
              <a:buChar char="•"/>
            </a:pPr>
            <a:r>
              <a:rPr lang="en-US" sz="1200" dirty="0">
                <a:solidFill>
                  <a:srgbClr val="1A2733"/>
                </a:solidFill>
                <a:latin typeface="Calibri" pitchFamily="34" charset="0"/>
                <a:ea typeface="Calibri" pitchFamily="34" charset="-122"/>
                <a:cs typeface="Calibri" pitchFamily="34" charset="-120"/>
              </a:rPr>
              <a:t>A condition the Q-Hub case approximates at n = 1: experts writing their own opening in schema form vs discovering requirements turn by turn</a:t>
            </a:r>
            <a:endParaRPr lang="en-US" sz="1200" dirty="0"/>
          </a:p>
          <a:p>
            <a:pPr marL="342900" indent="-342900">
              <a:spcAft>
                <a:spcPts val="700"/>
              </a:spcAft>
              <a:buSzPct val="100000"/>
              <a:buChar char="•"/>
            </a:pPr>
            <a:r>
              <a:rPr lang="en-US" sz="1200" dirty="0">
                <a:solidFill>
                  <a:srgbClr val="1A2733"/>
                </a:solidFill>
                <a:latin typeface="Calibri" pitchFamily="34" charset="0"/>
                <a:ea typeface="Calibri" pitchFamily="34" charset="-122"/>
                <a:cs typeface="Calibri" pitchFamily="34" charset="-120"/>
              </a:rPr>
              <a:t>Measures: turns to acceptance, defect counts, instrumented time, share of corrections traceable to specification gaps vs discovery</a:t>
            </a:r>
            <a:endParaRPr lang="en-US" sz="1200" dirty="0"/>
          </a:p>
          <a:p>
            <a:pPr marL="342900" indent="-342900">
              <a:buSzPct val="100000"/>
              <a:buChar char="•"/>
            </a:pPr>
            <a:r>
              <a:rPr lang="en-US" sz="1200" dirty="0">
                <a:solidFill>
                  <a:srgbClr val="1A2733"/>
                </a:solidFill>
                <a:latin typeface="Calibri" pitchFamily="34" charset="0"/>
                <a:ea typeface="Calibri" pitchFamily="34" charset="-122"/>
                <a:cs typeface="Calibri" pitchFamily="34" charset="-120"/>
              </a:rPr>
              <a:t>And separately: defect rate and time-to-diagnosis under real post-delivery use — where the Q-Hub artifact was actually caught out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239"/>
        </a:solidFill>
      </p:bgPr>
    </p:bg>
    <p:spTree>
      <p:nvGrpSpPr>
        <p:cNvPr id="1" name=""/>
        <p:cNvGrpSpPr/>
        <p:nvPr/>
      </p:nvGrpSpPr>
      <p:grpSpPr>
        <a:xfrm>
          <a:off x="0" y="0"/>
          <a:ext cx="0" cy="0"/>
          <a:chOff x="0" y="0"/>
          <a:chExt cx="0" cy="0"/>
        </a:xfrm>
      </p:grpSpPr>
      <p:sp>
        <p:nvSpPr>
          <p:cNvPr id="2" name="Text 0"/>
          <p:cNvSpPr/>
          <p:nvPr/>
        </p:nvSpPr>
        <p:spPr>
          <a:xfrm>
            <a:off x="822960" y="457200"/>
            <a:ext cx="10515600" cy="320040"/>
          </a:xfrm>
          <a:prstGeom prst="rect">
            <a:avLst/>
          </a:prstGeom>
          <a:noFill/>
          <a:ln/>
        </p:spPr>
        <p:txBody>
          <a:bodyPr wrap="square" lIns="0" tIns="0" rIns="0" bIns="0" rtlCol="0" anchor="ctr"/>
          <a:lstStyle/>
          <a:p>
            <a:pPr indent="0" marL="0">
              <a:buNone/>
            </a:pPr>
            <a:r>
              <a:rPr lang="en-US" sz="1200" b="1" spc="200" kern="0" dirty="0">
                <a:solidFill>
                  <a:srgbClr val="7E97AB"/>
                </a:solidFill>
                <a:latin typeface="Calibri" pitchFamily="34" charset="0"/>
                <a:ea typeface="Calibri" pitchFamily="34" charset="-122"/>
                <a:cs typeface="Calibri" pitchFamily="34" charset="-120"/>
              </a:rPr>
              <a:t>CONCLUSIONS</a:t>
            </a:r>
            <a:endParaRPr lang="en-US" sz="1200" dirty="0"/>
          </a:p>
        </p:txBody>
      </p:sp>
      <p:sp>
        <p:nvSpPr>
          <p:cNvPr id="3" name="Text 1"/>
          <p:cNvSpPr/>
          <p:nvPr/>
        </p:nvSpPr>
        <p:spPr>
          <a:xfrm>
            <a:off x="822960" y="7772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four instruments and one console argue</a:t>
            </a:r>
            <a:endParaRPr lang="en-US" sz="3000" dirty="0"/>
          </a:p>
        </p:txBody>
      </p:sp>
      <p:sp>
        <p:nvSpPr>
          <p:cNvPr id="4" name="Shape 2"/>
          <p:cNvSpPr/>
          <p:nvPr/>
        </p:nvSpPr>
        <p:spPr>
          <a:xfrm>
            <a:off x="822960" y="1783080"/>
            <a:ext cx="548640" cy="548640"/>
          </a:xfrm>
          <a:prstGeom prst="ellipse">
            <a:avLst/>
          </a:prstGeom>
          <a:solidFill>
            <a:srgbClr val="065A82"/>
          </a:solidFill>
          <a:ln/>
        </p:spPr>
      </p:sp>
      <p:pic>
        <p:nvPicPr>
          <p:cNvPr id="5" name="Image 0" descr="preencoded.png">    </p:cNvPr>
          <p:cNvPicPr>
            <a:picLocks noChangeAspect="1"/>
          </p:cNvPicPr>
          <p:nvPr/>
        </p:nvPicPr>
        <p:blipFill>
          <a:blip r:embed="rId1"/>
          <a:stretch>
            <a:fillRect/>
          </a:stretch>
        </p:blipFill>
        <p:spPr>
          <a:xfrm>
            <a:off x="965606" y="1925726"/>
            <a:ext cx="263347" cy="263347"/>
          </a:xfrm>
          <a:prstGeom prst="rect">
            <a:avLst/>
          </a:prstGeom>
        </p:spPr>
      </p:pic>
      <p:sp>
        <p:nvSpPr>
          <p:cNvPr id="6" name="Text 3"/>
          <p:cNvSpPr/>
          <p:nvPr/>
        </p:nvSpPr>
        <p:spPr>
          <a:xfrm>
            <a:off x="1600200" y="1755648"/>
            <a:ext cx="9784080" cy="34747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division of labor holds, at 10× the scale</a:t>
            </a:r>
            <a:endParaRPr lang="en-US" sz="1600" dirty="0"/>
          </a:p>
        </p:txBody>
      </p:sp>
      <p:sp>
        <p:nvSpPr>
          <p:cNvPr id="7" name="Text 4"/>
          <p:cNvSpPr/>
          <p:nvPr/>
        </p:nvSpPr>
        <p:spPr>
          <a:xfrm>
            <a:off x="1600200" y="2112264"/>
            <a:ext cx="9784080" cy="640080"/>
          </a:xfrm>
          <a:prstGeom prst="rect">
            <a:avLst/>
          </a:prstGeom>
          <a:noFill/>
          <a:ln/>
        </p:spPr>
        <p:txBody>
          <a:bodyPr wrap="square" lIns="0" tIns="0" rIns="0" bIns="0" rtlCol="0" anchor="ctr"/>
          <a:lstStyle/>
          <a:p>
            <a:pPr indent="0" marL="0">
              <a:buNone/>
            </a:pPr>
            <a:r>
              <a:rPr lang="en-US" sz="1250" dirty="0">
                <a:solidFill>
                  <a:srgbClr val="C9D9E8"/>
                </a:solidFill>
                <a:latin typeface="Calibri" pitchFamily="34" charset="0"/>
                <a:ea typeface="Calibri" pitchFamily="34" charset="-122"/>
                <a:cs typeface="Calibri" pitchFamily="34" charset="-120"/>
              </a:rPr>
              <a:t>The expert brings the what, the why, and the distrust; the agent brings the how and the discovery. It held for a relay board, and it held for a C2 console of 29,868 lines.</a:t>
            </a:r>
            <a:endParaRPr lang="en-US" sz="1250" dirty="0"/>
          </a:p>
        </p:txBody>
      </p:sp>
      <p:sp>
        <p:nvSpPr>
          <p:cNvPr id="8" name="Shape 5"/>
          <p:cNvSpPr/>
          <p:nvPr/>
        </p:nvSpPr>
        <p:spPr>
          <a:xfrm>
            <a:off x="822960" y="2898648"/>
            <a:ext cx="548640" cy="548640"/>
          </a:xfrm>
          <a:prstGeom prst="ellipse">
            <a:avLst/>
          </a:prstGeom>
          <a:solidFill>
            <a:srgbClr val="065A82"/>
          </a:solidFill>
          <a:ln/>
        </p:spPr>
      </p:sp>
      <p:pic>
        <p:nvPicPr>
          <p:cNvPr id="9" name="Image 1" descr="preencoded.png">    </p:cNvPr>
          <p:cNvPicPr>
            <a:picLocks noChangeAspect="1"/>
          </p:cNvPicPr>
          <p:nvPr/>
        </p:nvPicPr>
        <p:blipFill>
          <a:blip r:embed="rId2"/>
          <a:stretch>
            <a:fillRect/>
          </a:stretch>
        </p:blipFill>
        <p:spPr>
          <a:xfrm>
            <a:off x="965606" y="3041294"/>
            <a:ext cx="263347" cy="263347"/>
          </a:xfrm>
          <a:prstGeom prst="rect">
            <a:avLst/>
          </a:prstGeom>
        </p:spPr>
      </p:pic>
      <p:sp>
        <p:nvSpPr>
          <p:cNvPr id="10" name="Text 6"/>
          <p:cNvSpPr/>
          <p:nvPr/>
        </p:nvSpPr>
        <p:spPr>
          <a:xfrm>
            <a:off x="1600200" y="2871216"/>
            <a:ext cx="9784080" cy="34747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DES schema removes correction turns — only those</a:t>
            </a:r>
            <a:endParaRPr lang="en-US" sz="1600" dirty="0"/>
          </a:p>
        </p:txBody>
      </p:sp>
      <p:sp>
        <p:nvSpPr>
          <p:cNvPr id="11" name="Text 7"/>
          <p:cNvSpPr/>
          <p:nvPr/>
        </p:nvSpPr>
        <p:spPr>
          <a:xfrm>
            <a:off x="1600200" y="3227832"/>
            <a:ext cx="9784080" cy="640080"/>
          </a:xfrm>
          <a:prstGeom prst="rect">
            <a:avLst/>
          </a:prstGeom>
          <a:noFill/>
          <a:ln/>
        </p:spPr>
        <p:txBody>
          <a:bodyPr wrap="square" lIns="0" tIns="0" rIns="0" bIns="0" rtlCol="0" anchor="ctr"/>
          <a:lstStyle/>
          <a:p>
            <a:pPr indent="0" marL="0">
              <a:buNone/>
            </a:pPr>
            <a:r>
              <a:rPr lang="en-US" sz="1250" dirty="0">
                <a:solidFill>
                  <a:srgbClr val="C9D9E8"/>
                </a:solidFill>
                <a:latin typeface="Calibri" pitchFamily="34" charset="0"/>
                <a:ea typeface="Calibri" pitchFamily="34" charset="-122"/>
                <a:cs typeface="Calibri" pitchFamily="34" charset="-120"/>
              </a:rPr>
              <a:t>Discovery is not a specification gap. The seven slots front-load everything the expert already knows; what remains is what nobody could have known until the artifact ran.</a:t>
            </a:r>
            <a:endParaRPr lang="en-US" sz="1250" dirty="0"/>
          </a:p>
        </p:txBody>
      </p:sp>
      <p:sp>
        <p:nvSpPr>
          <p:cNvPr id="12" name="Shape 8"/>
          <p:cNvSpPr/>
          <p:nvPr/>
        </p:nvSpPr>
        <p:spPr>
          <a:xfrm>
            <a:off x="822960" y="4014216"/>
            <a:ext cx="548640" cy="548640"/>
          </a:xfrm>
          <a:prstGeom prst="ellipse">
            <a:avLst/>
          </a:prstGeom>
          <a:solidFill>
            <a:srgbClr val="065A82"/>
          </a:solidFill>
          <a:ln/>
        </p:spPr>
      </p:sp>
      <p:pic>
        <p:nvPicPr>
          <p:cNvPr id="13" name="Image 2" descr="preencoded.png">    </p:cNvPr>
          <p:cNvPicPr>
            <a:picLocks noChangeAspect="1"/>
          </p:cNvPicPr>
          <p:nvPr/>
        </p:nvPicPr>
        <p:blipFill>
          <a:blip r:embed="rId3"/>
          <a:stretch>
            <a:fillRect/>
          </a:stretch>
        </p:blipFill>
        <p:spPr>
          <a:xfrm>
            <a:off x="965606" y="4156862"/>
            <a:ext cx="263347" cy="263347"/>
          </a:xfrm>
          <a:prstGeom prst="rect">
            <a:avLst/>
          </a:prstGeom>
        </p:spPr>
      </p:pic>
      <p:sp>
        <p:nvSpPr>
          <p:cNvPr id="14" name="Text 9"/>
          <p:cNvSpPr/>
          <p:nvPr/>
        </p:nvSpPr>
        <p:spPr>
          <a:xfrm>
            <a:off x="1600200" y="3986784"/>
            <a:ext cx="9784080" cy="34747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Verification is the slot that earns its keep</a:t>
            </a:r>
            <a:endParaRPr lang="en-US" sz="1600" dirty="0"/>
          </a:p>
        </p:txBody>
      </p:sp>
      <p:sp>
        <p:nvSpPr>
          <p:cNvPr id="15" name="Text 10"/>
          <p:cNvSpPr/>
          <p:nvPr/>
        </p:nvSpPr>
        <p:spPr>
          <a:xfrm>
            <a:off x="1600200" y="4343400"/>
            <a:ext cx="9784080" cy="640080"/>
          </a:xfrm>
          <a:prstGeom prst="rect">
            <a:avLst/>
          </a:prstGeom>
          <a:noFill/>
          <a:ln/>
        </p:spPr>
        <p:txBody>
          <a:bodyPr wrap="square" lIns="0" tIns="0" rIns="0" bIns="0" rtlCol="0" anchor="ctr"/>
          <a:lstStyle/>
          <a:p>
            <a:pPr indent="0" marL="0">
              <a:buNone/>
            </a:pPr>
            <a:r>
              <a:rPr lang="en-US" sz="1250" dirty="0">
                <a:solidFill>
                  <a:srgbClr val="C9D9E8"/>
                </a:solidFill>
                <a:latin typeface="Calibri" pitchFamily="34" charset="0"/>
                <a:ea typeface="Calibri" pitchFamily="34" charset="-122"/>
                <a:cs typeface="Calibri" pitchFamily="34" charset="-120"/>
              </a:rPr>
              <a:t>Every device in the series carried a reading that was present, plausible, and wrong. At console scale, slot 7 industrializes into mutation-verified suites and 'something entitled to refuse you.'</a:t>
            </a:r>
            <a:endParaRPr lang="en-US" sz="1250" dirty="0"/>
          </a:p>
        </p:txBody>
      </p:sp>
      <p:sp>
        <p:nvSpPr>
          <p:cNvPr id="16" name="Shape 11"/>
          <p:cNvSpPr/>
          <p:nvPr/>
        </p:nvSpPr>
        <p:spPr>
          <a:xfrm>
            <a:off x="822960" y="5129784"/>
            <a:ext cx="548640" cy="548640"/>
          </a:xfrm>
          <a:prstGeom prst="ellipse">
            <a:avLst/>
          </a:prstGeom>
          <a:solidFill>
            <a:srgbClr val="C9862B"/>
          </a:solidFill>
          <a:ln/>
        </p:spPr>
      </p:sp>
      <p:pic>
        <p:nvPicPr>
          <p:cNvPr id="17" name="Image 3" descr="preencoded.png">    </p:cNvPr>
          <p:cNvPicPr>
            <a:picLocks noChangeAspect="1"/>
          </p:cNvPicPr>
          <p:nvPr/>
        </p:nvPicPr>
        <p:blipFill>
          <a:blip r:embed="rId4"/>
          <a:stretch>
            <a:fillRect/>
          </a:stretch>
        </p:blipFill>
        <p:spPr>
          <a:xfrm>
            <a:off x="965606" y="5272430"/>
            <a:ext cx="263347" cy="263347"/>
          </a:xfrm>
          <a:prstGeom prst="rect">
            <a:avLst/>
          </a:prstGeom>
        </p:spPr>
      </p:pic>
      <p:sp>
        <p:nvSpPr>
          <p:cNvPr id="18" name="Text 12"/>
          <p:cNvSpPr/>
          <p:nvPr/>
        </p:nvSpPr>
        <p:spPr>
          <a:xfrm>
            <a:off x="1600200" y="5102352"/>
            <a:ext cx="9784080" cy="34747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For the practitioner, the ratio is not the point</a:t>
            </a:r>
            <a:endParaRPr lang="en-US" sz="1600" dirty="0"/>
          </a:p>
        </p:txBody>
      </p:sp>
      <p:sp>
        <p:nvSpPr>
          <p:cNvPr id="19" name="Text 13"/>
          <p:cNvSpPr/>
          <p:nvPr/>
        </p:nvSpPr>
        <p:spPr>
          <a:xfrm>
            <a:off x="1600200" y="5458968"/>
            <a:ext cx="9784080" cy="640080"/>
          </a:xfrm>
          <a:prstGeom prst="rect">
            <a:avLst/>
          </a:prstGeom>
          <a:noFill/>
          <a:ln/>
        </p:spPr>
        <p:txBody>
          <a:bodyPr wrap="square" lIns="0" tIns="0" rIns="0" bIns="0" rtlCol="0" anchor="ctr"/>
          <a:lstStyle/>
          <a:p>
            <a:pPr indent="0" marL="0">
              <a:buNone/>
            </a:pPr>
            <a:r>
              <a:rPr lang="en-US" sz="1250" dirty="0">
                <a:solidFill>
                  <a:srgbClr val="C9D9E8"/>
                </a:solidFill>
                <a:latin typeface="Calibri" pitchFamily="34" charset="0"/>
                <a:ea typeface="Calibri" pitchFamily="34" charset="-122"/>
                <a:cs typeface="Calibri" pitchFamily="34" charset="-120"/>
              </a:rPr>
              <a:t>An order of magnitude for a professional; for a non-programmer, the difference between a working operational tool and none at all.</a:t>
            </a:r>
            <a:endParaRPr lang="en-US" sz="1250" dirty="0"/>
          </a:p>
        </p:txBody>
      </p:sp>
      <p:sp>
        <p:nvSpPr>
          <p:cNvPr id="20" name="Text 14"/>
          <p:cNvSpPr/>
          <p:nvPr/>
        </p:nvSpPr>
        <p:spPr>
          <a:xfrm>
            <a:off x="822960" y="6355080"/>
            <a:ext cx="10515600" cy="320040"/>
          </a:xfrm>
          <a:prstGeom prst="rect">
            <a:avLst/>
          </a:prstGeom>
          <a:noFill/>
          <a:ln/>
        </p:spPr>
        <p:txBody>
          <a:bodyPr wrap="square" lIns="0" tIns="0" rIns="0" bIns="0" rtlCol="0" anchor="ctr"/>
          <a:lstStyle/>
          <a:p>
            <a:pPr indent="0" marL="0">
              <a:buNone/>
            </a:pPr>
            <a:r>
              <a:rPr lang="en-US" sz="1050" dirty="0">
                <a:solidFill>
                  <a:srgbClr val="7E97AB"/>
                </a:solidFill>
                <a:latin typeface="Calibri" pitchFamily="34" charset="0"/>
                <a:ea typeface="Calibri" pitchFamily="34" charset="-122"/>
                <a:cs typeface="Calibri" pitchFamily="34" charset="-120"/>
              </a:rPr>
              <a:t>Artifacts: D:\Claude\ASV  ·  case studies: starlink-monitor, qhub-relay-control (GitHub: AndyMcLeod)  ·  papers: McLeod 2024–2026, preprints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2026-09-23T14:31:22Z</dcterms:created>
  <dcterms:modified xsi:type="dcterms:W3CDTF">2026-09-23T14:31:22Z</dcterms:modified>
</cp:coreProperties>
</file>